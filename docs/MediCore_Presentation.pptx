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Je vais vous présenter le projet MediCore, un pipeline de données développé pour centraliser et exploiter les données pharmacie. L'objectif : transformer des données brutes dispersées dans MySQL en indicateurs métier exploitables dans Snowflake, le tout de manière automatisée et fiable.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va parcourir ensemble 7 sections.</a:t>
            </a:r>
          </a:p>
          <a:p>
            <a:r>
              <a:t>On commence par le contexte métier — pourquoi ce pipeline existe — puis on plonge dans l'architecture technique, l'ingestion des données, les transformations dbt, les opérations et le monitoring, le CI/CD, et enfin le bilan avec la feuille de route.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Commençons par comprendre le besoin métier qui a motivé la création de MediCore.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 de départ, c'est une base de données MySQL appelée winstat qui contient toutes les données opérationnelles des pharmacies : ventes, commandes, stock, produits, fournisseurs. 18 tables au total avec plus de 920 millions de lignes.</a:t>
            </a:r>
          </a:p>
          <a:p/>
          <a:p>
            <a:r>
              <a:t>Le problème : ces données sont enfermées dans un système transactionnel, pas exploitables pour des analyses. Les utilisateurs ont besoin de KPIs métier — marge, écoulement, ruptures, classification ABC — et ces calculs nécessitent des croisements entre tables qui seraient trop coûteux sur la base opérationnelle. D'où le besoin d'un entrepôt dédié.</a:t>
            </a:r>
          </a:p>
          <a:p/>
          <a:p>
            <a:r>
              <a:t>Pourquoi Snowflake ? Parce qu'il sépare le stockage du calcul, ce qui permet de scaler indépendamment, et son architecture columnar est optimisée pour les requêtes analytiques.</a:t>
            </a:r>
          </a:p>
          <a:p/>
          <a:p>
            <a:r>
              <a:t>La fraîcheur est un enjeu majeur : les données transactionnelles doivent être mises à jour toutes les 5 à 30 minutes. Ces valeurs sont par défaut pour les environnement de DEV et la PROD. Un pharmacien qui consulte ses ventes du jour a besoin de données quasi temps réel, pas de données de la veille. C'est ce qui justifie le CDC temps réel (Change Data Capture).</a:t>
            </a:r>
          </a:p>
          <a:p/>
          <a:p>
            <a:r>
              <a:t>Enfin, la sécurité PII (Données personnelles identifiables). Le RGPD nous impose de masquer les données personnelles — noms de patients, adresses, téléphones. On utilise un hash MD5 irréversible appliqué dès la couche staging, avant toute exploitation analytique. Aucune donnée personnelle en clair ne passe dans les marts ou les dashboards.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difficulté principale, c'est qu'on a deux types de données très différents. D'un côté, on a 4 tables transactionnelles qui changent en permanence — COMMANDES, FACTURES, ORDERS, MODSTOCK — et elles nécessitent un suivi quasi temps réel via CDC. De l'autre, on a 14 tables de référence — PRODUITS, PHARMACIE, FOURNISSEURS… — ces tables sont plus stables et sont rechargées quotidiennement.</a:t>
            </a:r>
          </a:p>
          <a:p/>
          <a:p>
            <a:r>
              <a:t>Cette dualité impose deux stratégies d'ingestion, chacune avec ses propres défis.</a:t>
            </a:r>
          </a:p>
          <a:p>
            <a:r>
              <a:t>À cela s'ajoutent des contraintes :</a:t>
            </a:r>
          </a:p>
          <a:p>
            <a:r>
              <a:t>- mémoire, le conteneur Docker est limité à 7.5 GO de RAM pour traiter 920 millions de lignes</a:t>
            </a:r>
          </a:p>
          <a:p>
            <a:r>
              <a:t>- des exigences de traçabilité : on doit pouvoir relier chaque donnée au batch qui l'a produite</a:t>
            </a:r>
          </a:p>
          <a:p>
            <a:r>
              <a:t>- et de fiabilité optimale avec aucune perte de données tolérée via le mécanisme de DLQ (dead-letter queue) pour les erreurs.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Voyons comment ces contraintes se traduisent concrètement en choix d'architecture.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l'architecture complète de Medicore.</a:t>
            </a:r>
          </a:p>
          <a:p>
            <a:r>
              <a:t>De gauche à droite :</a:t>
            </a:r>
          </a:p>
          <a:p>
            <a:r>
              <a:t>Les sources MySQL sur AWS RDS. Puis l'ingestion comprenant : Debezium qui capture les changements du binlog MySQL, les publie sur de topics Kafka, Kafka les consomme et les met à disposition aux deux scripts Python qui les insèrent dans Snowflake.</a:t>
            </a:r>
          </a:p>
          <a:p>
            <a:r>
              <a:t>Pourquoi Kafka plutôt qu'une connexion directe ? Il y a 3 raisons à cela : le découplage :</a:t>
            </a:r>
          </a:p>
          <a:p>
            <a:r>
              <a:t>- si Snowflake est indisponible, Kafka conserve les messages;</a:t>
            </a:r>
          </a:p>
          <a:p>
            <a:r>
              <a:t>- la possibilité de rejouer un offset en cas d'erreur;</a:t>
            </a:r>
          </a:p>
          <a:p>
            <a:r>
              <a:t>- et la scalabilité qui permet de mettre plusieurs consumers en parallèle.</a:t>
            </a:r>
          </a:p>
          <a:p/>
          <a:p>
            <a:r>
              <a:t>Dans Snowflake, RAW stocke les données brutes sans transformation (couche BRONZE) — c'est le principe ELT.</a:t>
            </a:r>
          </a:p>
          <a:p>
            <a:r>
              <a:t>Puis dbt transforme les données : les modèles staging (ou SILVER) dédupliquent et masquent les données PII</a:t>
            </a:r>
          </a:p>
          <a:p>
            <a:r>
              <a:t>Les modèles marts (ou GOLD) construisent le star schema pour donner en sortie 3 DIM, 8 FAITS et 15 KPIs.</a:t>
            </a:r>
          </a:p>
          <a:p/>
          <a:p>
            <a:r>
              <a:t>L'AUDIT et les SNAPSHOTS sont deux composants essentiels des modèles dbt. L'AUDIT comprenant les tables PIPELINE_RUNS, STEP_RUNS et DBT_MODEL_RUNS — permet la traçabilité à chaque exécution du pipeline. Quand un KPI semble faux, on remonte au RUN_ID, on vérifie chaque phase, et on identifie si c'est un problème d'ingestion ou de transformation. Sans audit, le diagnostic prend des heures au lieu de minutes.</a:t>
            </a:r>
          </a:p>
          <a:p/>
          <a:p>
            <a:r>
              <a:t>Les SNAPSHOTS implémentent le SCD2 — Slowly Changing Dimension Type 2. Quand une dimension change — exemple : une pharmacie qui change de nom, un produit qui change de fournisseur — au lieu d'écraser l'ancienne valeur, on la conserve avec une date de fin et on crée une nouvelle ligne avec la nouvelle valeur et une date de début. Ça permet des analyses historiques cohérentes : les ventes de février s'affichent avec l'ancien nom, celles de mars avec le nouveau.</a:t>
            </a:r>
          </a:p>
          <a:p/>
          <a:p>
            <a:r>
              <a:t>À droite, la couche exposition. Trois outils sont envisagés :</a:t>
            </a:r>
          </a:p>
          <a:p>
            <a:r>
              <a:t>- Power BI : intégration Microsoft native, avec licence souvent incluse dans Microsoft 365, DAX, un langage de manipulation de données puissant.</a:t>
            </a:r>
          </a:p>
          <a:p>
            <a:r>
              <a:t>Inconvénient : verrouillé dans l'écosystème Microsoft.</a:t>
            </a:r>
          </a:p>
          <a:p>
            <a:r>
              <a:t>- Tableau : référence en data visualisation, excellente communauté, connexion native Snowflake.</a:t>
            </a:r>
          </a:p>
          <a:p>
            <a:r>
              <a:t>Inconvénient : son coût élevé (~70$/utilisateur/mois).</a:t>
            </a:r>
          </a:p>
          <a:p>
            <a:r>
              <a:t>- Metabase : open-source, self-hosted, SQL natif, gratuit.</a:t>
            </a:r>
          </a:p>
          <a:p>
            <a:r>
              <a:t>Inconvénient : moins de fonctionnalités avancées. Idéal pour démarrer ou du self-service BI.</a:t>
            </a:r>
          </a:p>
          <a:p>
            <a:r>
              <a:t>Le choix dépendra du budget, des besoins utilisateurs et de l'écosystème existant.</a:t>
            </a:r>
          </a:p>
          <a:p/>
          <a:p>
            <a:r>
              <a:t>L'API/Exports permet d'intégrer les KPIs dans d'autres systèmes — ERP, CRM, applications métier. Les exports CSV/Excel permettent aussi de partager des données avec des partenaires comme les laboratoires ou les groupements de pharmacies.</a:t>
            </a:r>
          </a:p>
          <a:p/>
          <a:p/>
          <a:p>
            <a:r>
              <a:t>En bas, l'orchestration et le monitoring. Ils comprennent le script batch_loop.sh qui orchestre les 7 phases séquentiellement toutes les 5 à 30 minutes. Docker Compose gère les 6 services infrastructure. GitHub Actions automatise le CI/CD à chaque push vers la branche main. Les alertes Teams notifient l'équipe en temps réel.</a:t>
            </a:r>
          </a:p>
          <a:p/>
          <a:p>
            <a:r>
              <a:t>GHCR — GitHub Container Registry — est le registre Docker intégré à GitHub. Après chaque merge sur main et passage des 4 jobs CI, l'image Docker est poussée sur ghcr.io/auganmadet/medicore avec un tag SHA pour la traçabilité exacte et un tag « latest » pour la dernière version stable.</a:t>
            </a:r>
          </a:p>
          <a:p/>
          <a:p>
            <a:r>
              <a:t>Les mécanismes Alertes Teams et Sources Freshness seront détaillés un peu plus loin.</a:t>
            </a:r>
          </a:p>
          <a:p>
            <a:r>
              <a:t>Mais retenez que Alertes Teams est mis en place via un webhook Microsoft (Slide 11) et que Freshness (slide 16) est un mécanisme dbt pour contrôler la fraicheur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Docker Compose et pas Kubernetes ? Parce que notre cas d'usage est simple : un pipeline batch mono-instance. Docker Compose nous donne un environnement reproductible avec 6 services sur un réseau interne, sans la complexité opérationnelle de Kubernetes.</a:t>
            </a:r>
          </a:p>
          <a:p/>
          <a:p>
            <a:r>
              <a:t>Le rôle de chaque service :</a:t>
            </a:r>
          </a:p>
          <a:p>
            <a:r>
              <a:t>- medicore_elt_batch : le cerveau du pipeline. Il exécute le batch_loop.sh, les scripts Python d'ingestion CDC et bulk load, et toutes les commandes dbt.</a:t>
            </a:r>
          </a:p>
          <a:p>
            <a:r>
              <a:t>- mysql_cdc : l'instance MySQL source contenant les données pharmacie winstat. Le binlog est activé pour permettre le CDC.</a:t>
            </a:r>
          </a:p>
          <a:p>
            <a:r>
              <a:t>- kafka : le broker de messages qui reçoit les événements CDC de Debezium et les met à disposition des consommateurs. Garantit la durabilité et le replay des messages.</a:t>
            </a:r>
          </a:p>
          <a:p>
            <a:r>
              <a:t>- zookeeper : le gestionnaire de cluster Kafka. Il maintient la configuration, les leaders de partitions et les métadonnées. Pourquoi l'associer à Kafka ? Parce que Kafka en version 7.5.0 dépend encore de Zookeeper pour la coordination distribuée. Les versions récentes avec KRaft s'en affranchissent, mais on utilise la version stable.</a:t>
            </a:r>
          </a:p>
          <a:p>
            <a:r>
              <a:t>- connect : Kafka Connect avec le connecteur Debezium 2.7.3. C'est le pont entre MySQL et Kafka : il lit le binlog MySQL et publie les changements sur les topics.</a:t>
            </a:r>
          </a:p>
          <a:p>
            <a:r>
              <a:t>- kafdrop : interface web pour visualiser les topics, les messages, les offsets et le lag des consommateurs. Indispensable pour le diagnostic.</a:t>
            </a:r>
          </a:p>
          <a:p/>
          <a:p>
            <a:r>
              <a:t>Les ports sont bindés sur 127.0.0.1 — pas d'exposition externe — et le conteneur principal tourne avec un utilisateur non-root (appuser) pour limiter la surface d'attaque.</a:t>
            </a:r>
          </a:p>
          <a:p/>
          <a:p>
            <a:r>
              <a:t>Pourquoi 8 GB de RAM ? Le bulk load de 920M lignes par chunks de 500K nécessite de la mémoire pour les DataFrames Parquet, plus la JVM Kafka/Connect (~2 GB), plus dbt. 8 GB est le minimum stable observé. Pourquoi 2 CPUs ? Un pour le pipeline Python/dbt, un pour Kafka/Connect. C'est suffisant pour un traitement séquentiel mono-instance.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au cœur du système : comment les données transitent de MySQL à Snowflake.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colonnes reflètent les deux stratégies d'ingestion.</a:t>
            </a:r>
          </a:p>
          <a:p/>
          <a:p>
            <a:r>
              <a:t>Le workflow CDC temps réel, étape par étape :</a:t>
            </a:r>
          </a:p>
          <a:p>
            <a:r>
              <a:t>1. Debezium lit le binlog MySQL en continu et détecte chaque INSERT, UPDATE et DELETE sur les 4 tables transactionnelles: COMMANDES, FACTURES, ORDERS, MODSTOCK.</a:t>
            </a:r>
          </a:p>
          <a:p>
            <a:r>
              <a:t>2. Il publie un événement JSON sur un topic Kafka dédié — un topic par table.</a:t>
            </a:r>
          </a:p>
          <a:p>
            <a:r>
              <a:t>3. Notre consumer Python s'abonne aux 4 topics et accumule les messages.</a:t>
            </a:r>
          </a:p>
          <a:p>
            <a:r>
              <a:t>4. Tous les 500 messages ou 30 secondes (délai timeout), il fait un flush : INSERT batch dans Snowflake RAW.</a:t>
            </a:r>
          </a:p>
          <a:p>
            <a:r>
              <a:t>5. Après confirmation de l'INSERT réussi, il commit l'offset Kafka manuellement.</a:t>
            </a:r>
          </a:p>
          <a:p>
            <a:r>
              <a:t>6. Les messages malformés partent en DLQ.</a:t>
            </a:r>
          </a:p>
          <a:p>
            <a:r>
              <a:t>Ce worflow s'inscrit dans une boucle tous les 5 min en DEV et 30 min en PROD</a:t>
            </a:r>
          </a:p>
          <a:p/>
          <a:p>
            <a:r>
              <a:t>Pourquoi le commit Kafka manuel et pas l'auto-commit ? Parce que l'auto-commit avance l'offset dès la lecture du message. Si l'INSERT échoue, le message est perdu définitivement. Le commit manuel garantit le « at-least-once delivery » cad la livraison du message.</a:t>
            </a:r>
          </a:p>
          <a:p/>
          <a:p>
            <a:r>
              <a:t>Le workflow bulk load quotidien se déroule en plusieurs étapes :</a:t>
            </a:r>
          </a:p>
          <a:p>
            <a:r>
              <a:t>1. Connexion MySQL avec cursor streaming server-side — pas pd.read_sql() qui bufférise tout en mémoire, c'est un piège classique.</a:t>
            </a:r>
          </a:p>
          <a:p>
            <a:r>
              <a:t>2. Lecture par chunks de 500K lignes depuis chaque table.</a:t>
            </a:r>
          </a:p>
          <a:p>
            <a:r>
              <a:t>3. Conversion en format Parquet qui est un format columnar compressé, optimal pour Snowflake.</a:t>
            </a:r>
          </a:p>
          <a:p>
            <a:r>
              <a:t>4. PUT vers un stage interne Snowflake ce qui correspond à un upload du fichier Parquet.</a:t>
            </a:r>
          </a:p>
          <a:p>
            <a:r>
              <a:t>5. COPY INTO pour charger le stage dans la table RAW avec FORCE=TRUE.</a:t>
            </a:r>
          </a:p>
          <a:p>
            <a:r>
              <a:t>6. gc.collect() + del df pour libérer la mémoire après chaque chunk.</a:t>
            </a:r>
          </a:p>
          <a:p>
            <a:r>
              <a:t>Ce worflow permet de traiter 920M de lignes</a:t>
            </a:r>
          </a:p>
          <a:p/>
          <a:p>
            <a:r>
              <a:t>Le FORCE=TRUE est critique : je me suis aperçu qu'après un TRUNCATE, Snowflake garde en cache les métadonnées des fichiers pendant 64 jours et les ignore silencieusement. Sans FORCE=TRUE, les données semblent chargées mais ne le sont pas en vérité. C'est un piège qui m'a coûté du temps à diagnostiquer.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fiabilité, c'est ce qui différencie un pipeline de production d'un script jetable. Je vais détailler chaque mécanisme.</a:t>
            </a:r>
          </a:p>
          <a:p/>
          <a:p>
            <a:r>
              <a:t>Dead-Letter Queue (DLQ) : quand un message CDC est malformé (ex:/ un JSON invalide, des champs manquants, un type incompatible), plutôt que de crasher ou d'ignorer, on l'insère dans une table _DLQ avec le message d'erreur, le timestamp et le contenu brut. On peut ensuite analyser, corriger la cause et éventuellement rejouer.</a:t>
            </a:r>
          </a:p>
          <a:p>
            <a:r>
              <a:t>Les messages CDC invalides sont donc conservés et jamais perdus</a:t>
            </a:r>
          </a:p>
          <a:p/>
          <a:p>
            <a:r>
              <a:t>Commit Kafka manuel : par défaut, Kafka auto-commit l'offset toutes les 5 secondes. Le consumer lit un message et l'offset avance. Si l'INSERT Snowflake échoue ensuite, le message est perdu — l'offset a déjà avancé. Le commit manuel inverse la logique : pas d'INSERT réussi, pas d'avance d'offset. C'est le « at-least-once delivery ».</a:t>
            </a:r>
          </a:p>
          <a:p/>
          <a:p>
            <a:r>
              <a:t>Fallback row-by-row : un batch INSERT de 500 lignes échoue si UNE seule ligne a un problème (par ex:/ un type incompatible, une valeur trop longue). Le fallback réessaie ligne par ligne : les 499 valides passent, la ligne problématique va en DLQ avec le détail de l'erreur.</a:t>
            </a:r>
          </a:p>
          <a:p/>
          <a:p>
            <a:r>
              <a:t>Monitoring volume : on compte les événements CDC par batch. Si N batches consécutifs retournent 0 événements, on alerte via Teams. — Un topic Kafka vide n'est pas toujours normal : Debezium peut avoir décroché, le binlog peut être purgé, ou un problème réseau.</a:t>
            </a:r>
          </a:p>
          <a:p>
            <a:r>
              <a:t>Le nombre de batches consécutifs est configurable via une variable d'environnement.</a:t>
            </a:r>
          </a:p>
          <a:p/>
          <a:p>
            <a:r>
              <a:t>FORCE=TRUE : Snowflake maintient un registre des fichiers déjà chargés par COPY INTO — ce cache persiste 64 jours même après un TRUNCATE. Sans FORCE=TRUE, les mêmes noms de fichiers sont silencieusement ignorés lors du rechargement.</a:t>
            </a:r>
          </a:p>
          <a:p/>
          <a:p>
            <a:r>
              <a:t>Alertes Teams : un webhook Microsoft Teams envoie des notifications en temps réel à l'équipe. Le mécanisme fonctionne avec un compteur d'échecs par phase. Après 3 échecs consécutifs sur une même phase (CDC, staging, marts...), une alerte critique est envoyée en format Adaptive Card JSON. Quand le compteur repasse à 0 cad la phase réussit à nouveau, une notification de recovery est envoyée automatiquement.</a:t>
            </a:r>
          </a:p>
          <a:p>
            <a:r>
              <a:t>Un mécanisme de retry avec backoff exponentiel évite de perdre des alertes si Teams est temporairement indisponible. L'URL du webhook est optionnelle : si elle n'est pas configurée, le pipeline continue normalement en loggant sans alerter.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données sont dans Snowflake RAW. Voyons comment dbt les transforme en informations exploitables.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dbt plutôt que des procedures stockées Snowflake pour la transformation des données ?</a:t>
            </a:r>
          </a:p>
          <a:p>
            <a:r>
              <a:t>Trois avantages majeurs à choisir dbt :</a:t>
            </a:r>
          </a:p>
          <a:p>
            <a:r>
              <a:t>- le versioning Git de chaque transformation SQL,</a:t>
            </a:r>
          </a:p>
          <a:p>
            <a:r>
              <a:t>- les tests automatiques intégrés,</a:t>
            </a:r>
          </a:p>
          <a:p>
            <a:r>
              <a:t>- et le lineage qui permet de savoir exactement d'où provient chaque colonne.</a:t>
            </a:r>
          </a:p>
          <a:p/>
          <a:p>
            <a:r>
              <a:t>Les modèles dbt Staging s'appuyent sur les données sources de la couche RAW.</a:t>
            </a:r>
          </a:p>
          <a:p>
            <a:r>
              <a:t>Le staging fait deux choses critiques. D'abord la déduplication CDC : avec ROW_NUMBER partitionné par clé primaire et trié par timestamp décroissant, on ne garde que la version la plus récente de chaque ligne. Ensuite le masquage PII avec une macro MD5 centralisée.</a:t>
            </a:r>
          </a:p>
          <a:p/>
          <a:p>
            <a:r>
              <a:t>Le CDC capture toutes les opérations MySQL : les creates (c), updates (u), deletes (d) et snapshots (r). Elles sont toutes stockées dans RAW pour traçabilité complète.</a:t>
            </a:r>
          </a:p>
          <a:p/>
          <a:p>
            <a:r>
              <a:t>Mais dans staging, on filtre les deletes parce que dans le contexte pharmacie, une suppression dans MySQL ne signifie pas qu'on veut perdre la donnée analytiquement. Exemples concrets :</a:t>
            </a:r>
          </a:p>
          <a:p>
            <a:r>
              <a:t>- Une commande archivée et supprimée de MySQL reste nécessaire pour calculer le CA annuel</a:t>
            </a:r>
          </a:p>
          <a:p>
            <a:r>
              <a:t>- Une facture purgée de la base opérationnelle doit rester dans l'entrepôt pour les analyses de marge historiques</a:t>
            </a:r>
          </a:p>
          <a:p>
            <a:r>
              <a:t>- Un mouvement de stock supprimé après clôture doit rester pour les rapports d'inventaire</a:t>
            </a:r>
          </a:p>
          <a:p/>
          <a:p>
            <a:r>
              <a:t>Le staging ne garde que l'état courant "vivant" de chaque ligne — la dernière version non supprimée. Si un analyste a besoin de savoir qu'une ligne a été supprimée (et quand), il consulte RAW où le cdc_operation = 'D' avec son cdc_timestamp est conservé.</a:t>
            </a:r>
          </a:p>
          <a:p/>
          <a:p>
            <a:r>
              <a:t>Qu'est-ce que la matérialisation incrémentale ? Par défaut, dbt recrée entièrement chaque table à chaque exécution — c'est le mode « table ». Ça fonctionne pour les petits volumes, mais avec 920 millions de lignes, recalculer tout à chaque cycle de 5 minutes serait intenable. La matérialisation incrémentale ne traite que les nouvelles données : elle filtre avec cdc_timestamp &gt;= max(loaded_at), donc seules les lignes arrivées depuis le dernier run sont transformées. La stratégie « merge » fusionne ces lignes avec l'existant via la clé primaire composite — si la ligne existe déjà, elle est mise à jour ; sinon, elle est insérée. Résultat : un run staging prend quelques secondes au lieu de dizaines de minutes.</a:t>
            </a:r>
          </a:p>
          <a:p/>
          <a:p>
            <a:r>
              <a:t>Résultat : Les modèles Staging crééent les tables de la couche SILVER.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modèles Marts s'appuyent sur les données de la couche SILVER</a:t>
            </a:r>
          </a:p>
          <a:p>
            <a:r>
              <a:t>Pourquoi choisir un modèle star schema et pas un data vault ? Parce que notre besoin est la performance analytique, pas la flexibilité d'intégration multi-sources. Le star schema est compris par tous les outils BI, les jointures sont simples et performantes.</a:t>
            </a:r>
          </a:p>
          <a:p/>
          <a:p>
            <a:r>
              <a:t>Les modèles Marts crééent les tables de Dimension, les tables de Faits et des tables Kpis.</a:t>
            </a:r>
          </a:p>
          <a:p/>
          <a:p>
            <a:r>
              <a:t>3 dimensions créées :</a:t>
            </a:r>
          </a:p>
          <a:p>
            <a:r>
              <a:t>- dim_pharmacie : identifie chaque pharmacie (nom, adresse, ville, département). Clé métier : PHA_ID.</a:t>
            </a:r>
          </a:p>
          <a:p>
            <a:r>
              <a:t>- dim_produit : représente chaque produit pharmaceutique enrichi avec les codes EAN13 (code-barres) et LPPR (remboursement).</a:t>
            </a:r>
          </a:p>
          <a:p>
            <a:r>
              <a:t>    Clé métier : PRD_ID.</a:t>
            </a:r>
          </a:p>
          <a:p>
            <a:r>
              <a:t>- dim_fournisseur : représentent les répartiteurs et laboratoires qui fournissent les produits. Clé métier : FOU_ID.</a:t>
            </a:r>
          </a:p>
          <a:p/>
          <a:p>
            <a:r>
              <a:t>Chaque dimension utilise une clé de substitution qu'on appelle Surrogate keys générée par ROW_NUMBER() — un entier séquentiel (1, 2, 3...) au lieu de la clé métier source.</a:t>
            </a:r>
          </a:p>
          <a:p>
            <a:r>
              <a:t>Pourquoi ne pas garder directement PHA_ID ou PRD_ID ? Trois raisons :</a:t>
            </a:r>
          </a:p>
          <a:p>
            <a:r>
              <a:t>1. Indépendance vis-à-vis du système source — si MySQL change son schéma de clés, les marts ne sont pas impactés</a:t>
            </a:r>
          </a:p>
          <a:p>
            <a:r>
              <a:t>2. Performance — les jointures sur des entiers sont plus rapides que sur des chaînes</a:t>
            </a:r>
          </a:p>
          <a:p>
            <a:r>
              <a:t>3. Gestion des orphelins — quand une fact référence un produit ou une pharmacie qui n'existe pas dans la dimension, on attribue la surrogate key -1 via COALESCE(dim.sk, -1) au lieu de perdre la ligne</a:t>
            </a:r>
          </a:p>
          <a:p/>
          <a:p>
            <a:r>
              <a:t>8 tables de faits créées:</a:t>
            </a:r>
          </a:p>
          <a:p>
            <a:r>
              <a:t>1. fact_ventes : ventes journalières par pharmacie/produit (quantité, CA, marge)</a:t>
            </a:r>
          </a:p>
          <a:p>
            <a:r>
              <a:t>2. fact_commandes : commandes passées aux fournisseurs (quantité, montant)</a:t>
            </a:r>
          </a:p>
          <a:p>
            <a:r>
              <a:t>3. fact_prix_journalier : évolution quotidienne des prix d'achat et de vente</a:t>
            </a:r>
          </a:p>
          <a:p>
            <a:r>
              <a:t>4. fact_stock_mouvement : mouvements de stock (entrées, sorties, ajustements)</a:t>
            </a:r>
          </a:p>
          <a:p>
            <a:r>
              <a:t>5. fact_stock_valorisation : valorisation du stock à un instant T (quantité × prix)</a:t>
            </a:r>
          </a:p>
          <a:p>
            <a:r>
              <a:t>6. fact_ruptures : ruptures de stock avec estimation du CA perdu</a:t>
            </a:r>
          </a:p>
          <a:p>
            <a:r>
              <a:t>7. fact_tresorerie : flux de trésorerie (encaissements, décaissements)</a:t>
            </a:r>
          </a:p>
          <a:p>
            <a:r>
              <a:t>8. fact_operateur : performance des vendeurs (nombre de ventes, panier moyen)</a:t>
            </a:r>
          </a:p>
          <a:p/>
          <a:p>
            <a:r>
              <a:t>Chaque fait référence les 3 dimensions via LEFT JOIN + COALESCE(sk, -1) pour ne jamais perdre de lignes même si la dimension est incomplète.</a:t>
            </a:r>
          </a:p>
          <a:p/>
          <a:p>
            <a:r>
              <a:t>Les 15 KPIs couvrent les principaux axes d'analyse. Notamment le KPI opérateur (fact_operateur) qui mesure la performance de chaque vendeur en pharmacie via le nombre de ventes, panier moyen, CA généré. C'est un levier managérial concret : le titulaire peut identifier ses meilleurs vendeurs et adapter ses formations.</a:t>
            </a:r>
          </a:p>
          <a:p/>
          <a:p>
            <a:r>
              <a:t>La classification ABC applique la loi de Pareto : elle identifie les 20%% de produits générant 80%% du CA (classe A), les 30%% suivants pour 15%% du CA (classe B), et les 50%% restants pour 5%% du CA (classe C). Ça guide les décisions de réapprovisionnement et de négociation fournisseur.</a:t>
            </a:r>
          </a:p>
          <a:p/>
          <a:p>
            <a:r>
              <a:t>Le KPI qualité des données surveille la fraîcheur et les anomalies — c'est le monitoring du pipeline lui-même, il est vu depuis les marts.</a:t>
            </a:r>
          </a:p>
          <a:p/>
          <a:p>
            <a:r>
              <a:t>Pourquoi historiser uniquement pharmacie, produit et fournisseur en SCD2, et pas les 14 autres tables ? Parce que ce sont les seules dimensions dont les changements ont un impact analytique. Si une pharmacie change de nom — par exemple « Pharmacie Dupont » devient « Pharmacie Santé Plus » après un rachat — les ventes de janvier doivent rester associées à l'ancien nom, et celles de février au nouveau. Sans SCD2, toutes les ventes apparaîtraient sous « Santé Plus », cela fausse les analyses.</a:t>
            </a:r>
          </a:p>
          <a:p/>
          <a:p>
            <a:r>
              <a:t>Autre exemple concret : un produit change de fournisseur. Le Doliprane 500mg était fourni par le répartiteur Alliance Healthcare, mais passe chez OCP. Le SCD2 conserve les deux lignes avec des dates de validité : dbt_valid_from et dbt_valid_to. Les analyses de marge par fournisseur restent correctes sur chaque période.</a:t>
            </a:r>
          </a:p>
          <a:p/>
          <a:p>
            <a:r>
              <a:t>Les autres tables — EAN13, LPPR, DAYBYDAY — sont des référentiels stables ou des données factuelles qui ne changent pas rétroactivement. Historiser chaque table augmenterait la complexité sans apport analytique.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pipeline n'a de valeur que s'il est fiable en production. Voyons les mécanismes de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batch_loop.sh est volontairement simple — un script bash plutôt qu'Airflow — parce que l'orchestration est linéaire : 7 phases séquentielles. Pas besoin d'un DAG complexe pour l'instant.</a:t>
            </a:r>
          </a:p>
          <a:p/>
          <a:p>
            <a:r>
              <a:t>Les 7 phases dans l'ordre :</a:t>
            </a:r>
          </a:p>
          <a:p>
            <a:r>
              <a:t>1. ref_reload — rechargement quotidien des 14 tables de référence à 03h00. TRUNCATE + bulk load complet. Ne s'exécute qu'une fois par jour.</a:t>
            </a:r>
          </a:p>
          <a:p>
            <a:r>
              <a:t>2. cdc_batch — consommation des événements Kafka sur les 4 tables CDC. Micro-batch de 500 events ou timeout 30s. C'est la phase la plus fréquente.</a:t>
            </a:r>
          </a:p>
          <a:p>
            <a:r>
              <a:t>3. dbt_staging — transformation des données brutes RAW en staging : déduplication CDC, masquage PII, typage. Run incrémental sur les 18 modèles stg_*.</a:t>
            </a:r>
          </a:p>
          <a:p>
            <a:r>
              <a:t>4. dbt_snapshot — mise à jour des snapshots SCD2 : pharmacie, produit, fournisseur. Détecte les changements et historise.</a:t>
            </a:r>
          </a:p>
          <a:p>
            <a:r>
              <a:t>5. dbt_marts — construction du star schema : dimensions, faits, KPIs. Les marts sont la couche consommée par les outils BI.</a:t>
            </a:r>
          </a:p>
          <a:p>
            <a:r>
              <a:t>6. dbt_test — exécution des tests dbt : not_null, unique, relationships, expression_is_true sur les formules métier. Les échecs sont comptabilisés.</a:t>
            </a:r>
          </a:p>
          <a:p>
            <a:r>
              <a:t>7. freshness — contrôle de fraîcheur dbt source freshness sur les 18 tables RAW.</a:t>
            </a:r>
          </a:p>
          <a:p/>
          <a:p>
            <a:r>
              <a:t>Le timeout est configurable par phase — PHASE_TIMEOUT_SEC, défaut 30 minutes — est un retour d'expérience critique. Sans timeout, un dbt run bloqué sur une requête Snowflake pouvait bloquer tout le pipeline indéfiniment. En production, une requête sur une table mal clusterisée a déjà pris 45 minutes. Avec le timeout, après 30 minutes on coupe la phase, on log l'échec dans AUDIT, on alerte Teams, et le pipeline continue avec la phase suivante.</a:t>
            </a:r>
          </a:p>
          <a:p/>
          <a:p>
            <a:r>
              <a:t>L'arrêt graceful intercepte les signaux SIGTERM et SIGINT. Quand on fait docker compose stop, Docker envoie SIGTERM au processus. Sans gestion de ce signal, le pipeline serait tué en plein milieu d'un INSERT ou d'un dbt run, on risque d'avoir des données corrompues. Avec le trap, le pipeline termine proprement la phase en cours avant de s'arrêter. C'est compatible avec Docker.</a:t>
            </a:r>
          </a:p>
          <a:p/>
          <a:p>
            <a:r>
              <a:t>Chaque itération génère un RUN_ID unique — un UUID — propagé à toutes les phases et persisté dans le schéma AUDIT Snowflake. Concrètement, on peut répondre à la question : « cette donnée dans les marts, elle vient de quel batch, à quelle heure, et est-ce que toutes les phases ont réussi ? »</a:t>
            </a:r>
          </a:p>
          <a:p/>
          <a:p>
            <a:r>
              <a:t>Le source freshness vérifie que les données sont à jour. Deux seuils différents selon le type : les tables CDC doivent être fraîches à moins de 12h (warning) ou 24h (erreur), car elles sont alimentées toutes les 5-30 minutes. Les tables référence ont des seuils plus larges — 36h warning, 48h erreur — car elles ne sont rechargées qu'une fois par jour à 03h00. Si une table dépasse le seuil, l'équipe est alertée via Teams.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pipeline sans CI/CD, c'est un pipeline qui casse en silence. Voyons les garde-fous automatisés.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jobs CI tournent en parallèle en 2 à 3 minutes:</a:t>
            </a:r>
          </a:p>
          <a:p>
            <a:r>
              <a:t>- Le lint Python attrape les imports inutilisés et les problèmes de formatage.</a:t>
            </a:r>
          </a:p>
          <a:p>
            <a:r>
              <a:t>- Le dbt parse valide la syntaxe SQL et Jinja2 sans connexion Snowflake — on utilise des variables factices.</a:t>
            </a:r>
          </a:p>
          <a:p>
            <a:r>
              <a:t>- Docker build vérifie l'image.</a:t>
            </a:r>
          </a:p>
          <a:p>
            <a:r>
              <a:t>- ShellCheck analyse les scripts bash.</a:t>
            </a:r>
          </a:p>
          <a:p/>
          <a:p>
            <a:r>
              <a:t>Si les 4 jobs passent et qu'on est sur main, le CD pousse l'image sur GHCR. Pourquoi GHCR plutôt que Docker Hub ? Parce que c'est intégré nativement à GitHub, l'authentification est automatique via GITHUB_TOKEN (zéro secret à configurer donc) et c'est gratuit pour les repos publics.</a:t>
            </a:r>
          </a:p>
          <a:p/>
          <a:p>
            <a:r>
              <a:t>Le CD conditionnel concerne les tags Docker qui constituent un point important. Chaque image poussée reçoit deux tags :</a:t>
            </a:r>
          </a:p>
          <a:p>
            <a:r>
              <a:t>- Le tag SHA du commit — par exemple « a1b2c3d » — c'est l'identifiant unique et immuable. Il permet de savoir exactement quel code tourne en production. Si un bug apparaît, on remonte au commit exact, on lit le diff, on identifie la cause. C'est la traçabilité totale du code au conteneur.</a:t>
            </a:r>
          </a:p>
          <a:p>
            <a:r>
              <a:t>- Le tag « latest » — c'est un alias mobile qui pointe toujours sur la dernière image construite depuis main. Il permet de déployer simplement avec docker pull sans connaître le SHA.</a:t>
            </a:r>
          </a:p>
          <a:p/>
          <a:p>
            <a:r>
              <a:t>En production, on référence le SHA pour la reproductibilité ; en dev, on utilise latest pour toujours avoir la dernière version.</a:t>
            </a:r>
          </a:p>
          <a:p>
            <a:r>
              <a:t>Cette double stratégie combine le meilleur des deux mondes : traçabilité exacte (SHA) et commodité opérationnelle (latest).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faisons le bilan de ce qui est opérationnel et ce qui reste à faire.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gauche, tout ce qui est implémenté et fonctionnel. Le pipeline complet ingère les 18 tables, le star schema produit 3 dim, 8 faits et 15 KPIs, le CDC tourne en temps réel, le batch Bulk load tourne quotidiennement, le masquage PII est automatique, le lineage audit trace chaque exécution, et le CI/CD déploie automatiquement.</a:t>
            </a:r>
          </a:p>
          <a:p/>
          <a:p>
            <a:r>
              <a:t>À droite, ce sont les prochaines étapes. Détaillons chaque point :</a:t>
            </a:r>
          </a:p>
          <a:p/>
          <a:p>
            <a:r>
              <a:t>Exposition BI : les marts sont prêts, il manque l'outil de visualisation. Power BI, Tableau ou Metabase — le choix dépend du budget et de l'écosystème existant. C'est la priorité numéro UNE car c'est ce qui rend les KPIs accessibles aux utilisateurs (pharmaciens).</a:t>
            </a:r>
          </a:p>
          <a:p/>
          <a:p>
            <a:r>
              <a:t>Monitoring Kafka : aujourd'hui on monitore le volume CDC — combien d'events par batch — mais pas le « consumer lag », c'est-à-dire le retard entre le dernier message publié par Debezium et le dernier message consommé par notre pipeline. Un lag croissant signifie que le consumer ne suit pas le rythme de production. L'idée est d'exposer cette métrique via Kafdrop pour déclencher des alertes avant que le retard devienne critique.</a:t>
            </a:r>
          </a:p>
          <a:p/>
          <a:p>
            <a:r>
              <a:t>Tests isolés : aujourd'hui, dbt test s'exécute uniquement dans le batch_loop — il envoie des requêtes de vérification (not_null, unique, relationships) sur les vraies données Snowflake. Ça fonctionne, mais on ne peut pas tester en CI car GitHub Actions n'a pas de connexion Snowflake. L'objectif est de créer des modèles « seeds » dbt cad des fichiers CSV avec quelques lignes de données fictives — que dbt chargerait dans un schéma temporaire pour exécuter les tests à chaque pull request, avant le merge, sans dépendre de l'environnement de production.</a:t>
            </a:r>
          </a:p>
          <a:p/>
          <a:p>
            <a:r>
              <a:t>Documentation KPIs : chaque KPI doit être documenté avec sa formule exacte, un exemple SQL concret et un cas d'usage métier. Par exemple : « Marge brute = (prix_vente - prix_achat) / prix_vente × 100. Exemple : un Doliprane vendu 3.50€ acheté 2.10€ = marge de 40%%. » Cette documentation est essentielle pour que les utilisateurs comprennent et fassent confiance aux chiffres.</a:t>
            </a:r>
          </a:p>
          <a:p/>
          <a:p>
            <a:r>
              <a:t>Rotation des credentials : les 4 comptes — Snowflake, MySQL, Kafka, Teams webhook — ont des mots de passe statiques. L'objectif est d'automatiser leur rotation périodique, idéalement via un gestionnaire de secrets comme AWS Secrets Manager ou HashiCorp Vault. Aujourd'hui, la rotation peut être manuelle, ce qui représente un risque de sécurité en cas de compromission.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 ai fini avec la présentation.</a:t>
            </a:r>
          </a:p>
          <a:p>
            <a:r>
              <a:t>Merci pour votre attention. Je suis disponible pour répondre à vos questions, que ce soit sur les choix d'architecture, les détails techniques, ou les prochaines étapes du projet.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011680"/>
            <a:ext cx="12191695" cy="27432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ediprix.png"/>
          <p:cNvPicPr>
            <a:picLocks noChangeAspect="1"/>
          </p:cNvPicPr>
          <p:nvPr/>
        </p:nvPicPr>
        <p:blipFill>
          <a:blip r:embed="rId2"/>
          <a:stretch>
            <a:fillRect/>
          </a:stretch>
        </p:blipFill>
        <p:spPr>
          <a:xfrm>
            <a:off x="5455767" y="457200"/>
            <a:ext cx="1280160" cy="1280160"/>
          </a:xfrm>
          <a:prstGeom prst="rect">
            <a:avLst/>
          </a:prstGeom>
        </p:spPr>
      </p:pic>
      <p:sp>
        <p:nvSpPr>
          <p:cNvPr id="4" name="TextBox 3"/>
          <p:cNvSpPr txBox="1"/>
          <p:nvPr/>
        </p:nvSpPr>
        <p:spPr>
          <a:xfrm>
            <a:off x="914400" y="2377440"/>
            <a:ext cx="10332720" cy="1097280"/>
          </a:xfrm>
          <a:prstGeom prst="rect">
            <a:avLst/>
          </a:prstGeom>
          <a:noFill/>
        </p:spPr>
        <p:txBody>
          <a:bodyPr wrap="square">
            <a:spAutoFit/>
          </a:bodyPr>
          <a:lstStyle/>
          <a:p>
            <a:pPr algn="ctr">
              <a:defRPr sz="4400" b="1">
                <a:solidFill>
                  <a:srgbClr val="FFFFFF"/>
                </a:solidFill>
              </a:defRPr>
            </a:pPr>
            <a:r>
              <a:t>MediCore</a:t>
            </a:r>
          </a:p>
        </p:txBody>
      </p:sp>
      <p:sp>
        <p:nvSpPr>
          <p:cNvPr id="5" name="TextBox 4"/>
          <p:cNvSpPr txBox="1"/>
          <p:nvPr/>
        </p:nvSpPr>
        <p:spPr>
          <a:xfrm>
            <a:off x="914400" y="3566160"/>
            <a:ext cx="10332720" cy="731520"/>
          </a:xfrm>
          <a:prstGeom prst="rect">
            <a:avLst/>
          </a:prstGeom>
          <a:noFill/>
        </p:spPr>
        <p:txBody>
          <a:bodyPr wrap="square">
            <a:spAutoFit/>
          </a:bodyPr>
          <a:lstStyle/>
          <a:p>
            <a:pPr algn="ctr">
              <a:defRPr sz="2200">
                <a:solidFill>
                  <a:srgbClr val="F2D5DA"/>
                </a:solidFill>
              </a:defRPr>
            </a:pPr>
            <a:r>
              <a:t>Pipeline ELT industrialisé pour données pharmacie</a:t>
            </a:r>
          </a:p>
        </p:txBody>
      </p:sp>
      <p:sp>
        <p:nvSpPr>
          <p:cNvPr id="6" name="Rectangle 5"/>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1 /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2 / 21</a:t>
            </a:r>
          </a:p>
        </p:txBody>
      </p:sp>
      <p:pic>
        <p:nvPicPr>
          <p:cNvPr id="5" name="Picture 4" descr="logo-mediprix.png"/>
          <p:cNvPicPr>
            <a:picLocks noChangeAspect="1"/>
          </p:cNvPicPr>
          <p:nvPr/>
        </p:nvPicPr>
        <p:blipFill>
          <a:blip r:embed="rId2"/>
          <a:stretch>
            <a:fillRect/>
          </a:stretch>
        </p:blipFill>
        <p:spPr>
          <a:xfrm>
            <a:off x="10515600" y="137160"/>
            <a:ext cx="822960" cy="822960"/>
          </a:xfrm>
          <a:prstGeom prst="rect">
            <a:avLst/>
          </a:prstGeom>
        </p:spPr>
      </p:pic>
      <p:sp>
        <p:nvSpPr>
          <p:cNvPr id="6" name="TextBox 5"/>
          <p:cNvSpPr txBox="1"/>
          <p:nvPr/>
        </p:nvSpPr>
        <p:spPr>
          <a:xfrm>
            <a:off x="731520" y="137160"/>
            <a:ext cx="9601200" cy="822960"/>
          </a:xfrm>
          <a:prstGeom prst="rect">
            <a:avLst/>
          </a:prstGeom>
          <a:noFill/>
        </p:spPr>
        <p:txBody>
          <a:bodyPr wrap="square" anchor="ctr">
            <a:spAutoFit/>
          </a:bodyPr>
          <a:lstStyle/>
          <a:p>
            <a:pPr algn="l">
              <a:defRPr sz="2800" b="1">
                <a:solidFill>
                  <a:srgbClr val="FFFFFF"/>
                </a:solidFill>
              </a:defRPr>
            </a:pPr>
            <a:r>
              <a:t>Sommaire</a:t>
            </a:r>
          </a:p>
        </p:txBody>
      </p:sp>
      <p:sp>
        <p:nvSpPr>
          <p:cNvPr id="7" name="TextBox 6"/>
          <p:cNvSpPr txBox="1"/>
          <p:nvPr/>
        </p:nvSpPr>
        <p:spPr>
          <a:xfrm>
            <a:off x="1371600" y="1645920"/>
            <a:ext cx="9144000" cy="4572000"/>
          </a:xfrm>
          <a:prstGeom prst="rect">
            <a:avLst/>
          </a:prstGeom>
          <a:noFill/>
        </p:spPr>
        <p:txBody>
          <a:bodyPr wrap="square">
            <a:spAutoFit/>
          </a:bodyPr>
          <a:lstStyle/>
          <a:p>
            <a:pPr>
              <a:spcBef>
                <a:spcPts val="1400"/>
              </a:spcBef>
              <a:spcAft>
                <a:spcPts val="600"/>
              </a:spcAft>
            </a:pPr>
            <a:r>
              <a:rPr sz="2000" b="1">
                <a:solidFill>
                  <a:srgbClr val="C8102E"/>
                </a:solidFill>
              </a:rPr>
              <a:t>1. Contexte et problématique</a:t>
            </a:r>
          </a:p>
          <a:p>
            <a:pPr>
              <a:spcBef>
                <a:spcPts val="1400"/>
              </a:spcBef>
              <a:spcAft>
                <a:spcPts val="600"/>
              </a:spcAft>
            </a:pPr>
            <a:r>
              <a:rPr sz="2000" b="1">
                <a:solidFill>
                  <a:srgbClr val="C8102E"/>
                </a:solidFill>
              </a:rPr>
              <a:t>2. Architecture du pipeline</a:t>
            </a:r>
          </a:p>
          <a:p>
            <a:pPr>
              <a:spcBef>
                <a:spcPts val="1400"/>
              </a:spcBef>
              <a:spcAft>
                <a:spcPts val="600"/>
              </a:spcAft>
            </a:pPr>
            <a:r>
              <a:rPr sz="2000" b="1">
                <a:solidFill>
                  <a:srgbClr val="C8102E"/>
                </a:solidFill>
              </a:rPr>
              <a:t>3. Ingestion des données</a:t>
            </a:r>
          </a:p>
          <a:p>
            <a:pPr>
              <a:spcBef>
                <a:spcPts val="1400"/>
              </a:spcBef>
              <a:spcAft>
                <a:spcPts val="600"/>
              </a:spcAft>
            </a:pPr>
            <a:r>
              <a:rPr sz="2000" b="1">
                <a:solidFill>
                  <a:srgbClr val="C8102E"/>
                </a:solidFill>
              </a:rPr>
              <a:t>4. Transformations dbt</a:t>
            </a:r>
          </a:p>
          <a:p>
            <a:pPr>
              <a:spcBef>
                <a:spcPts val="1400"/>
              </a:spcBef>
              <a:spcAft>
                <a:spcPts val="600"/>
              </a:spcAft>
            </a:pPr>
            <a:r>
              <a:rPr sz="2000" b="1">
                <a:solidFill>
                  <a:srgbClr val="C8102E"/>
                </a:solidFill>
              </a:rPr>
              <a:t>5. Opérations et monitoring</a:t>
            </a:r>
          </a:p>
          <a:p>
            <a:pPr>
              <a:spcBef>
                <a:spcPts val="1400"/>
              </a:spcBef>
              <a:spcAft>
                <a:spcPts val="600"/>
              </a:spcAft>
            </a:pPr>
            <a:r>
              <a:rPr sz="2000" b="1">
                <a:solidFill>
                  <a:srgbClr val="C8102E"/>
                </a:solidFill>
              </a:rPr>
              <a:t>6. CI/CD</a:t>
            </a:r>
          </a:p>
          <a:p>
            <a:pPr>
              <a:spcBef>
                <a:spcPts val="1400"/>
              </a:spcBef>
              <a:spcAft>
                <a:spcPts val="600"/>
              </a:spcAft>
            </a:pPr>
            <a:r>
              <a:rPr sz="2000" b="1">
                <a:solidFill>
                  <a:srgbClr val="C8102E"/>
                </a:solidFill>
              </a:rPr>
              <a:t>7. Bilan et feuille de route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C8102E"/>
        </a:solidFill>
        <a:effectLst/>
      </p:bgPr>
    </p:bg>
    <p:spTree>
      <p:nvGrpSpPr>
        <p:cNvPr id="1" name=""/>
        <p:cNvGrpSpPr/>
        <p:nvPr/>
      </p:nvGrpSpPr>
      <p:grpSpPr/>
      <p:pic>
        <p:nvPicPr>
          <p:cNvPr id="2" name="Picture 1" descr="logo-mediprix.png"/>
          <p:cNvPicPr>
            <a:picLocks noChangeAspect="1"/>
          </p:cNvPicPr>
          <p:nvPr/>
        </p:nvPicPr>
        <p:blipFill>
          <a:blip r:embed="rId2"/>
          <a:stretch>
            <a:fillRect/>
          </a:stretch>
        </p:blipFill>
        <p:spPr>
          <a:xfrm>
            <a:off x="10332720" y="274320"/>
            <a:ext cx="731520" cy="731520"/>
          </a:xfrm>
          <a:prstGeom prst="rect">
            <a:avLst/>
          </a:prstGeom>
        </p:spPr>
      </p:pic>
      <p:sp>
        <p:nvSpPr>
          <p:cNvPr id="3" name="TextBox 2"/>
          <p:cNvSpPr txBox="1"/>
          <p:nvPr/>
        </p:nvSpPr>
        <p:spPr>
          <a:xfrm>
            <a:off x="914400" y="1828800"/>
            <a:ext cx="10332720" cy="914400"/>
          </a:xfrm>
          <a:prstGeom prst="rect">
            <a:avLst/>
          </a:prstGeom>
          <a:noFill/>
        </p:spPr>
        <p:txBody>
          <a:bodyPr wrap="none">
            <a:spAutoFit/>
          </a:bodyPr>
          <a:lstStyle/>
          <a:p>
            <a:pPr algn="ctr">
              <a:defRPr sz="7200" b="1">
                <a:solidFill>
                  <a:srgbClr val="FFFFFF"/>
                </a:solidFill>
              </a:defRPr>
            </a:pPr>
            <a:r>
              <a:t>01</a:t>
            </a:r>
          </a:p>
        </p:txBody>
      </p:sp>
      <p:sp>
        <p:nvSpPr>
          <p:cNvPr id="4" name="Rectangle 3"/>
          <p:cNvSpPr/>
          <p:nvPr/>
        </p:nvSpPr>
        <p:spPr>
          <a:xfrm>
            <a:off x="5029200" y="2926080"/>
            <a:ext cx="210312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0"/>
            <a:ext cx="10332720" cy="1097280"/>
          </a:xfrm>
          <a:prstGeom prst="rect">
            <a:avLst/>
          </a:prstGeom>
          <a:noFill/>
        </p:spPr>
        <p:txBody>
          <a:bodyPr wrap="square">
            <a:spAutoFit/>
          </a:bodyPr>
          <a:lstStyle/>
          <a:p>
            <a:pPr algn="ctr">
              <a:defRPr sz="3600">
                <a:solidFill>
                  <a:srgbClr val="FFFFFF"/>
                </a:solidFill>
              </a:defRPr>
            </a:pPr>
            <a:r>
              <a:t>Contexte et problématique</a:t>
            </a:r>
          </a:p>
        </p:txBody>
      </p:sp>
      <p:sp>
        <p:nvSpPr>
          <p:cNvPr id="6" name="TextBox 5"/>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4 / 21</a:t>
            </a:r>
          </a:p>
        </p:txBody>
      </p:sp>
      <p:pic>
        <p:nvPicPr>
          <p:cNvPr id="5" name="Picture 4" descr="logo-mediprix.png"/>
          <p:cNvPicPr>
            <a:picLocks noChangeAspect="1"/>
          </p:cNvPicPr>
          <p:nvPr/>
        </p:nvPicPr>
        <p:blipFill>
          <a:blip r:embed="rId2"/>
          <a:stretch>
            <a:fillRect/>
          </a:stretch>
        </p:blipFill>
        <p:spPr>
          <a:xfrm>
            <a:off x="10515600" y="137160"/>
            <a:ext cx="822960" cy="822960"/>
          </a:xfrm>
          <a:prstGeom prst="rect">
            <a:avLst/>
          </a:prstGeom>
        </p:spPr>
      </p:pic>
      <p:sp>
        <p:nvSpPr>
          <p:cNvPr id="6" name="TextBox 5"/>
          <p:cNvSpPr txBox="1"/>
          <p:nvPr/>
        </p:nvSpPr>
        <p:spPr>
          <a:xfrm>
            <a:off x="731520" y="137160"/>
            <a:ext cx="9601200" cy="822960"/>
          </a:xfrm>
          <a:prstGeom prst="rect">
            <a:avLst/>
          </a:prstGeom>
          <a:noFill/>
        </p:spPr>
        <p:txBody>
          <a:bodyPr wrap="square" anchor="ctr">
            <a:spAutoFit/>
          </a:bodyPr>
          <a:lstStyle/>
          <a:p>
            <a:pPr algn="l">
              <a:defRPr sz="2800" b="1">
                <a:solidFill>
                  <a:srgbClr val="FFFFFF"/>
                </a:solidFill>
              </a:defRPr>
            </a:pPr>
            <a:r>
              <a:t>Le besoin</a:t>
            </a:r>
          </a:p>
        </p:txBody>
      </p:sp>
      <p:sp>
        <p:nvSpPr>
          <p:cNvPr id="7" name="TextBox 6"/>
          <p:cNvSpPr txBox="1"/>
          <p:nvPr/>
        </p:nvSpPr>
        <p:spPr>
          <a:xfrm>
            <a:off x="731520" y="1463040"/>
            <a:ext cx="10698480" cy="4754880"/>
          </a:xfrm>
          <a:prstGeom prst="rect">
            <a:avLst/>
          </a:prstGeom>
          <a:noFill/>
        </p:spPr>
        <p:txBody>
          <a:bodyPr wrap="square">
            <a:spAutoFit/>
          </a:bodyPr>
          <a:lstStyle/>
          <a:p>
            <a:pPr>
              <a:spcBef>
                <a:spcPts val="1200"/>
              </a:spcBef>
              <a:spcAft>
                <a:spcPts val="400"/>
              </a:spcAft>
            </a:pPr>
            <a:r>
              <a:rPr sz="1800" b="1">
                <a:solidFill>
                  <a:srgbClr val="C8102E"/>
                </a:solidFill>
              </a:rPr>
              <a:t>Centraliser  :</a:t>
            </a:r>
            <a:r>
              <a:rPr sz="1800">
                <a:solidFill>
                  <a:srgbClr val="2D2D2D"/>
                </a:solidFill>
              </a:rPr>
              <a:t> données de pharmacies dispersées dans MySQL (winstat)</a:t>
            </a:r>
          </a:p>
          <a:p>
            <a:pPr lvl="1">
              <a:spcBef>
                <a:spcPts val="400"/>
              </a:spcBef>
              <a:spcAft>
                <a:spcPts val="400"/>
              </a:spcAft>
            </a:pPr>
            <a:r>
              <a:rPr sz="1600">
                <a:solidFill>
                  <a:srgbClr val="666666"/>
                </a:solidFill>
              </a:rPr>
              <a:t>18 tables sources : ventes, commandes, stock, produits, fournisseurs…</a:t>
            </a:r>
          </a:p>
          <a:p>
            <a:pPr lvl="1">
              <a:spcBef>
                <a:spcPts val="400"/>
              </a:spcBef>
              <a:spcAft>
                <a:spcPts val="400"/>
              </a:spcAft>
            </a:pPr>
            <a:r>
              <a:rPr sz="1600">
                <a:solidFill>
                  <a:srgbClr val="666666"/>
                </a:solidFill>
              </a:rPr>
              <a:t>920M+ lignes à charger et maintenir à jour</a:t>
            </a:r>
          </a:p>
          <a:p>
            <a:pPr>
              <a:spcBef>
                <a:spcPts val="1200"/>
              </a:spcBef>
              <a:spcAft>
                <a:spcPts val="400"/>
              </a:spcAft>
            </a:pPr>
            <a:r>
              <a:rPr sz="1800" b="1">
                <a:solidFill>
                  <a:srgbClr val="C8102E"/>
                </a:solidFill>
              </a:rPr>
              <a:t>KPIs métier  :</a:t>
            </a:r>
            <a:r>
              <a:rPr sz="1800">
                <a:solidFill>
                  <a:srgbClr val="2D2D2D"/>
                </a:solidFill>
              </a:rPr>
              <a:t> marge, écoulement, ruptures, ABC Pareto, trésorerie…</a:t>
            </a:r>
          </a:p>
          <a:p>
            <a:pPr>
              <a:spcBef>
                <a:spcPts val="1200"/>
              </a:spcBef>
              <a:spcAft>
                <a:spcPts val="400"/>
              </a:spcAft>
            </a:pPr>
            <a:r>
              <a:rPr sz="1800" b="1">
                <a:solidFill>
                  <a:srgbClr val="C8102E"/>
                </a:solidFill>
              </a:rPr>
              <a:t>Fraîcheur  :</a:t>
            </a:r>
            <a:r>
              <a:rPr sz="1800">
                <a:solidFill>
                  <a:srgbClr val="2D2D2D"/>
                </a:solidFill>
              </a:rPr>
              <a:t> données transactionnelles mises à jour en continu (5-30 min)</a:t>
            </a:r>
          </a:p>
          <a:p>
            <a:pPr>
              <a:spcBef>
                <a:spcPts val="1200"/>
              </a:spcBef>
              <a:spcAft>
                <a:spcPts val="400"/>
              </a:spcAft>
            </a:pPr>
            <a:r>
              <a:rPr sz="1800" b="1">
                <a:solidFill>
                  <a:srgbClr val="C8102E"/>
                </a:solidFill>
              </a:rPr>
              <a:t>Sécurité PII  :</a:t>
            </a:r>
            <a:r>
              <a:rPr sz="1800">
                <a:solidFill>
                  <a:srgbClr val="2D2D2D"/>
                </a:solidFill>
              </a:rPr>
              <a:t> masquage obligatoire des noms, adresses, téléphones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5 / 21</a:t>
            </a:r>
          </a:p>
        </p:txBody>
      </p:sp>
      <p:pic>
        <p:nvPicPr>
          <p:cNvPr id="5" name="Picture 4" descr="logo-mediprix.png"/>
          <p:cNvPicPr>
            <a:picLocks noChangeAspect="1"/>
          </p:cNvPicPr>
          <p:nvPr/>
        </p:nvPicPr>
        <p:blipFill>
          <a:blip r:embed="rId2"/>
          <a:stretch>
            <a:fillRect/>
          </a:stretch>
        </p:blipFill>
        <p:spPr>
          <a:xfrm>
            <a:off x="10515600" y="137160"/>
            <a:ext cx="822960" cy="822960"/>
          </a:xfrm>
          <a:prstGeom prst="rect">
            <a:avLst/>
          </a:prstGeom>
        </p:spPr>
      </p:pic>
      <p:sp>
        <p:nvSpPr>
          <p:cNvPr id="6" name="TextBox 5"/>
          <p:cNvSpPr txBox="1"/>
          <p:nvPr/>
        </p:nvSpPr>
        <p:spPr>
          <a:xfrm>
            <a:off x="731520" y="137160"/>
            <a:ext cx="9601200" cy="822960"/>
          </a:xfrm>
          <a:prstGeom prst="rect">
            <a:avLst/>
          </a:prstGeom>
          <a:noFill/>
        </p:spPr>
        <p:txBody>
          <a:bodyPr wrap="square" anchor="ctr">
            <a:spAutoFit/>
          </a:bodyPr>
          <a:lstStyle/>
          <a:p>
            <a:pPr algn="l">
              <a:defRPr sz="2800" b="1">
                <a:solidFill>
                  <a:srgbClr val="FFFFFF"/>
                </a:solidFill>
              </a:defRPr>
            </a:pPr>
            <a:r>
              <a:t>Les contraintes</a:t>
            </a:r>
          </a:p>
        </p:txBody>
      </p:sp>
      <p:sp>
        <p:nvSpPr>
          <p:cNvPr id="7" name="TextBox 6"/>
          <p:cNvSpPr txBox="1"/>
          <p:nvPr/>
        </p:nvSpPr>
        <p:spPr>
          <a:xfrm>
            <a:off x="731520" y="1463040"/>
            <a:ext cx="10698480" cy="4754880"/>
          </a:xfrm>
          <a:prstGeom prst="rect">
            <a:avLst/>
          </a:prstGeom>
          <a:noFill/>
        </p:spPr>
        <p:txBody>
          <a:bodyPr wrap="square">
            <a:spAutoFit/>
          </a:bodyPr>
          <a:lstStyle/>
          <a:p>
            <a:pPr>
              <a:spcBef>
                <a:spcPts val="1200"/>
              </a:spcBef>
              <a:spcAft>
                <a:spcPts val="400"/>
              </a:spcAft>
            </a:pPr>
            <a:r>
              <a:rPr sz="1800" b="1">
                <a:solidFill>
                  <a:srgbClr val="C8102E"/>
                </a:solidFill>
              </a:rPr>
              <a:t>Deux flux avec latences différentes  :</a:t>
            </a:r>
            <a:r>
              <a:rPr sz="1800">
                <a:solidFill>
                  <a:srgbClr val="2D2D2D"/>
                </a:solidFill>
              </a:rPr>
              <a:t/>
            </a:r>
          </a:p>
          <a:p>
            <a:pPr lvl="1">
              <a:spcBef>
                <a:spcPts val="400"/>
              </a:spcBef>
              <a:spcAft>
                <a:spcPts val="400"/>
              </a:spcAft>
            </a:pPr>
            <a:r>
              <a:rPr sz="1600">
                <a:solidFill>
                  <a:srgbClr val="666666"/>
                </a:solidFill>
              </a:rPr>
              <a:t>4 tables transactionnelles CDC temps réel : COMMANDES, FACTURES, ORDERS, MODSTOCK</a:t>
            </a:r>
          </a:p>
          <a:p>
            <a:pPr lvl="1">
              <a:spcBef>
                <a:spcPts val="400"/>
              </a:spcBef>
              <a:spcAft>
                <a:spcPts val="400"/>
              </a:spcAft>
            </a:pPr>
            <a:r>
              <a:rPr sz="1600">
                <a:solidFill>
                  <a:srgbClr val="666666"/>
                </a:solidFill>
              </a:rPr>
              <a:t>14 tables référentiel bulk quotidien : PRODUITS, PHARMACIE, FOURNISSEURS…</a:t>
            </a:r>
          </a:p>
          <a:p>
            <a:pPr>
              <a:spcBef>
                <a:spcPts val="1200"/>
              </a:spcBef>
              <a:spcAft>
                <a:spcPts val="400"/>
              </a:spcAft>
            </a:pPr>
            <a:r>
              <a:rPr sz="1800" b="1">
                <a:solidFill>
                  <a:srgbClr val="C8102E"/>
                </a:solidFill>
              </a:rPr>
              <a:t>Volumétrie  :</a:t>
            </a:r>
            <a:r>
              <a:rPr sz="1800">
                <a:solidFill>
                  <a:srgbClr val="2D2D2D"/>
                </a:solidFill>
              </a:rPr>
              <a:t> chunks de 500K lignes, conteneur limité à 7.5 GB RAM</a:t>
            </a:r>
          </a:p>
          <a:p>
            <a:pPr>
              <a:spcBef>
                <a:spcPts val="1200"/>
              </a:spcBef>
              <a:spcAft>
                <a:spcPts val="400"/>
              </a:spcAft>
            </a:pPr>
            <a:r>
              <a:rPr sz="1800" b="1">
                <a:solidFill>
                  <a:srgbClr val="C8102E"/>
                </a:solidFill>
              </a:rPr>
              <a:t>Fiabilité  :</a:t>
            </a:r>
            <a:r>
              <a:rPr sz="1800">
                <a:solidFill>
                  <a:srgbClr val="2D2D2D"/>
                </a:solidFill>
              </a:rPr>
              <a:t> aucune perte de données tolérée, dead-letter queue pour les erreurs</a:t>
            </a:r>
          </a:p>
          <a:p>
            <a:pPr>
              <a:spcBef>
                <a:spcPts val="1200"/>
              </a:spcBef>
              <a:spcAft>
                <a:spcPts val="400"/>
              </a:spcAft>
            </a:pPr>
            <a:r>
              <a:rPr sz="1800" b="1">
                <a:solidFill>
                  <a:srgbClr val="C8102E"/>
                </a:solidFill>
              </a:rPr>
              <a:t>Traçabilité  :</a:t>
            </a:r>
            <a:r>
              <a:rPr sz="1800">
                <a:solidFill>
                  <a:srgbClr val="2D2D2D"/>
                </a:solidFill>
              </a:rPr>
              <a:t> chaque donnée reliée au batch qui l'a produite (lineage opérationnel)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C8102E"/>
        </a:solidFill>
        <a:effectLst/>
      </p:bgPr>
    </p:bg>
    <p:spTree>
      <p:nvGrpSpPr>
        <p:cNvPr id="1" name=""/>
        <p:cNvGrpSpPr/>
        <p:nvPr/>
      </p:nvGrpSpPr>
      <p:grpSpPr/>
      <p:pic>
        <p:nvPicPr>
          <p:cNvPr id="2" name="Picture 1" descr="logo-mediprix.png"/>
          <p:cNvPicPr>
            <a:picLocks noChangeAspect="1"/>
          </p:cNvPicPr>
          <p:nvPr/>
        </p:nvPicPr>
        <p:blipFill>
          <a:blip r:embed="rId2"/>
          <a:stretch>
            <a:fillRect/>
          </a:stretch>
        </p:blipFill>
        <p:spPr>
          <a:xfrm>
            <a:off x="10332720" y="274320"/>
            <a:ext cx="731520" cy="731520"/>
          </a:xfrm>
          <a:prstGeom prst="rect">
            <a:avLst/>
          </a:prstGeom>
        </p:spPr>
      </p:pic>
      <p:sp>
        <p:nvSpPr>
          <p:cNvPr id="3" name="TextBox 2"/>
          <p:cNvSpPr txBox="1"/>
          <p:nvPr/>
        </p:nvSpPr>
        <p:spPr>
          <a:xfrm>
            <a:off x="914400" y="1828800"/>
            <a:ext cx="10332720" cy="914400"/>
          </a:xfrm>
          <a:prstGeom prst="rect">
            <a:avLst/>
          </a:prstGeom>
          <a:noFill/>
        </p:spPr>
        <p:txBody>
          <a:bodyPr wrap="none">
            <a:spAutoFit/>
          </a:bodyPr>
          <a:lstStyle/>
          <a:p>
            <a:pPr algn="ctr">
              <a:defRPr sz="7200" b="1">
                <a:solidFill>
                  <a:srgbClr val="FFFFFF"/>
                </a:solidFill>
              </a:defRPr>
            </a:pPr>
            <a:r>
              <a:t>02</a:t>
            </a:r>
          </a:p>
        </p:txBody>
      </p:sp>
      <p:sp>
        <p:nvSpPr>
          <p:cNvPr id="4" name="Rectangle 3"/>
          <p:cNvSpPr/>
          <p:nvPr/>
        </p:nvSpPr>
        <p:spPr>
          <a:xfrm>
            <a:off x="5029200" y="2926080"/>
            <a:ext cx="210312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0"/>
            <a:ext cx="10332720" cy="1097280"/>
          </a:xfrm>
          <a:prstGeom prst="rect">
            <a:avLst/>
          </a:prstGeom>
          <a:noFill/>
        </p:spPr>
        <p:txBody>
          <a:bodyPr wrap="square">
            <a:spAutoFit/>
          </a:bodyPr>
          <a:lstStyle/>
          <a:p>
            <a:pPr algn="ctr">
              <a:defRPr sz="3600">
                <a:solidFill>
                  <a:srgbClr val="FFFFFF"/>
                </a:solidFill>
              </a:defRPr>
            </a:pPr>
            <a:r>
              <a:t>Architecture du pipeline</a:t>
            </a:r>
          </a:p>
        </p:txBody>
      </p:sp>
      <p:sp>
        <p:nvSpPr>
          <p:cNvPr id="6" name="TextBox 5"/>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7 / 21</a:t>
            </a:r>
          </a:p>
        </p:txBody>
      </p:sp>
      <p:pic>
        <p:nvPicPr>
          <p:cNvPr id="5" name="Picture 4" descr="logo-mediprix.png"/>
          <p:cNvPicPr>
            <a:picLocks noChangeAspect="1"/>
          </p:cNvPicPr>
          <p:nvPr/>
        </p:nvPicPr>
        <p:blipFill>
          <a:blip r:embed="rId2"/>
          <a:stretch>
            <a:fillRect/>
          </a:stretch>
        </p:blipFill>
        <p:spPr>
          <a:xfrm>
            <a:off x="10515600" y="137160"/>
            <a:ext cx="822960" cy="822960"/>
          </a:xfrm>
          <a:prstGeom prst="rect">
            <a:avLst/>
          </a:prstGeom>
        </p:spPr>
      </p:pic>
      <p:sp>
        <p:nvSpPr>
          <p:cNvPr id="6" name="TextBox 5"/>
          <p:cNvSpPr txBox="1"/>
          <p:nvPr/>
        </p:nvSpPr>
        <p:spPr>
          <a:xfrm>
            <a:off x="731520" y="137160"/>
            <a:ext cx="9601200" cy="822960"/>
          </a:xfrm>
          <a:prstGeom prst="rect">
            <a:avLst/>
          </a:prstGeom>
          <a:noFill/>
        </p:spPr>
        <p:txBody>
          <a:bodyPr wrap="none" anchor="ctr">
            <a:spAutoFit/>
          </a:bodyPr>
          <a:lstStyle/>
          <a:p>
            <a:pPr>
              <a:defRPr sz="2800" b="1">
                <a:solidFill>
                  <a:srgbClr val="FFFFFF"/>
                </a:solidFill>
              </a:defRPr>
            </a:pPr>
            <a:r>
              <a:t>Architecture data</a:t>
            </a:r>
          </a:p>
        </p:txBody>
      </p:sp>
      <p:sp>
        <p:nvSpPr>
          <p:cNvPr id="7" name="Rounded Rectangle 6"/>
          <p:cNvSpPr/>
          <p:nvPr/>
        </p:nvSpPr>
        <p:spPr>
          <a:xfrm>
            <a:off x="274320" y="1371600"/>
            <a:ext cx="1554480" cy="4754880"/>
          </a:xfrm>
          <a:prstGeom prst="roundRect">
            <a:avLst/>
          </a:prstGeom>
          <a:solidFill>
            <a:srgbClr val="F9F9F9"/>
          </a:solidFill>
          <a:ln w="25400">
            <a:solidFill>
              <a:srgbClr val="1A56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63040"/>
            <a:ext cx="1280160" cy="274320"/>
          </a:xfrm>
          <a:prstGeom prst="rect">
            <a:avLst/>
          </a:prstGeom>
          <a:noFill/>
        </p:spPr>
        <p:txBody>
          <a:bodyPr wrap="none">
            <a:spAutoFit/>
          </a:bodyPr>
          <a:lstStyle/>
          <a:p>
            <a:pPr algn="l">
              <a:defRPr sz="1200" b="1">
                <a:solidFill>
                  <a:srgbClr val="1A568E"/>
                </a:solidFill>
              </a:defRPr>
            </a:pPr>
            <a:r>
              <a:t>SOURCES</a:t>
            </a:r>
          </a:p>
        </p:txBody>
      </p:sp>
      <p:sp>
        <p:nvSpPr>
          <p:cNvPr id="9" name="Rounded Rectangle 8"/>
          <p:cNvSpPr/>
          <p:nvPr/>
        </p:nvSpPr>
        <p:spPr>
          <a:xfrm>
            <a:off x="411480" y="1920240"/>
            <a:ext cx="1280160" cy="822960"/>
          </a:xfrm>
          <a:prstGeom prst="round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MySQL RDS</a:t>
            </a:r>
          </a:p>
          <a:p>
            <a:pPr algn="ctr">
              <a:defRPr sz="900">
                <a:solidFill>
                  <a:srgbClr val="FFDDDD"/>
                </a:solidFill>
              </a:defRPr>
            </a:pPr>
            <a:r>
              <a:t>winstat</a:t>
            </a:r>
          </a:p>
        </p:txBody>
      </p:sp>
      <p:pic>
        <p:nvPicPr>
          <p:cNvPr id="10" name="Picture 9" descr="logo-mysql.png"/>
          <p:cNvPicPr>
            <a:picLocks noChangeAspect="1"/>
          </p:cNvPicPr>
          <p:nvPr/>
        </p:nvPicPr>
        <p:blipFill>
          <a:blip r:embed="rId3"/>
          <a:stretch>
            <a:fillRect/>
          </a:stretch>
        </p:blipFill>
        <p:spPr>
          <a:xfrm>
            <a:off x="1399032" y="1956816"/>
            <a:ext cx="256032" cy="256032"/>
          </a:xfrm>
          <a:prstGeom prst="rect">
            <a:avLst/>
          </a:prstGeom>
        </p:spPr>
      </p:pic>
      <p:sp>
        <p:nvSpPr>
          <p:cNvPr id="11" name="Rounded Rectangle 10"/>
          <p:cNvSpPr/>
          <p:nvPr/>
        </p:nvSpPr>
        <p:spPr>
          <a:xfrm>
            <a:off x="411480" y="2926080"/>
            <a:ext cx="1280160" cy="594360"/>
          </a:xfrm>
          <a:prstGeom prst="round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4 tables CDC</a:t>
            </a:r>
          </a:p>
          <a:p>
            <a:pPr algn="ctr">
              <a:defRPr sz="900">
                <a:solidFill>
                  <a:srgbClr val="FFDDDD"/>
                </a:solidFill>
              </a:defRPr>
            </a:pPr>
            <a:r>
              <a:t>temps réel</a:t>
            </a:r>
          </a:p>
        </p:txBody>
      </p:sp>
      <p:sp>
        <p:nvSpPr>
          <p:cNvPr id="12" name="Rounded Rectangle 11"/>
          <p:cNvSpPr/>
          <p:nvPr/>
        </p:nvSpPr>
        <p:spPr>
          <a:xfrm>
            <a:off x="411480" y="3703320"/>
            <a:ext cx="1280160" cy="594360"/>
          </a:xfrm>
          <a:prstGeom prst="round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14 tables REF</a:t>
            </a:r>
          </a:p>
          <a:p>
            <a:pPr algn="ctr">
              <a:defRPr sz="900">
                <a:solidFill>
                  <a:srgbClr val="FFDDDD"/>
                </a:solidFill>
              </a:defRPr>
            </a:pPr>
            <a:r>
              <a:t>bulk quotidien</a:t>
            </a:r>
          </a:p>
        </p:txBody>
      </p:sp>
      <p:pic>
        <p:nvPicPr>
          <p:cNvPr id="13" name="Picture 12" descr="logo-aws.png"/>
          <p:cNvPicPr>
            <a:picLocks noChangeAspect="1"/>
          </p:cNvPicPr>
          <p:nvPr/>
        </p:nvPicPr>
        <p:blipFill>
          <a:blip r:embed="rId4"/>
          <a:stretch>
            <a:fillRect/>
          </a:stretch>
        </p:blipFill>
        <p:spPr>
          <a:xfrm>
            <a:off x="594360" y="4572000"/>
            <a:ext cx="762496" cy="457200"/>
          </a:xfrm>
          <a:prstGeom prst="rect">
            <a:avLst/>
          </a:prstGeom>
        </p:spPr>
      </p:pic>
      <p:sp>
        <p:nvSpPr>
          <p:cNvPr id="14" name="Right Arrow 13"/>
          <p:cNvSpPr/>
          <p:nvPr/>
        </p:nvSpPr>
        <p:spPr>
          <a:xfrm>
            <a:off x="1828800" y="2926080"/>
            <a:ext cx="365760" cy="228600"/>
          </a:xfrm>
          <a:prstGeom prst="rightArrow">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194560" y="1371600"/>
            <a:ext cx="1920240" cy="4754880"/>
          </a:xfrm>
          <a:prstGeom prst="roundRect">
            <a:avLst/>
          </a:prstGeom>
          <a:solidFill>
            <a:srgbClr val="F9F9F9"/>
          </a:solidFill>
          <a:ln w="25400">
            <a:solidFill>
              <a:srgbClr val="8B0A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31720" y="1463040"/>
            <a:ext cx="1645920" cy="274320"/>
          </a:xfrm>
          <a:prstGeom prst="rect">
            <a:avLst/>
          </a:prstGeom>
          <a:noFill/>
        </p:spPr>
        <p:txBody>
          <a:bodyPr wrap="none">
            <a:spAutoFit/>
          </a:bodyPr>
          <a:lstStyle/>
          <a:p>
            <a:pPr algn="l">
              <a:defRPr sz="1200" b="1">
                <a:solidFill>
                  <a:srgbClr val="8B0A1E"/>
                </a:solidFill>
              </a:defRPr>
            </a:pPr>
            <a:r>
              <a:t>INGESTION</a:t>
            </a:r>
          </a:p>
        </p:txBody>
      </p:sp>
      <p:sp>
        <p:nvSpPr>
          <p:cNvPr id="17" name="Rounded Rectangle 16"/>
          <p:cNvSpPr/>
          <p:nvPr/>
        </p:nvSpPr>
        <p:spPr>
          <a:xfrm>
            <a:off x="2377440" y="1920240"/>
            <a:ext cx="1554480" cy="685800"/>
          </a:xfrm>
          <a:prstGeom prst="round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Debezium 2.7</a:t>
            </a:r>
          </a:p>
          <a:p>
            <a:pPr algn="ctr">
              <a:defRPr sz="900">
                <a:solidFill>
                  <a:srgbClr val="FFDDDD"/>
                </a:solidFill>
              </a:defRPr>
            </a:pPr>
            <a:r>
              <a:t>CDC binlog</a:t>
            </a:r>
          </a:p>
        </p:txBody>
      </p:sp>
      <p:pic>
        <p:nvPicPr>
          <p:cNvPr id="18" name="Picture 17" descr="logo-debezium.png"/>
          <p:cNvPicPr>
            <a:picLocks noChangeAspect="1"/>
          </p:cNvPicPr>
          <p:nvPr/>
        </p:nvPicPr>
        <p:blipFill>
          <a:blip r:embed="rId5"/>
          <a:stretch>
            <a:fillRect/>
          </a:stretch>
        </p:blipFill>
        <p:spPr>
          <a:xfrm>
            <a:off x="3639312" y="1956816"/>
            <a:ext cx="1172666" cy="256032"/>
          </a:xfrm>
          <a:prstGeom prst="rect">
            <a:avLst/>
          </a:prstGeom>
        </p:spPr>
      </p:pic>
      <p:sp>
        <p:nvSpPr>
          <p:cNvPr id="19" name="Rounded Rectangle 18"/>
          <p:cNvSpPr/>
          <p:nvPr/>
        </p:nvSpPr>
        <p:spPr>
          <a:xfrm>
            <a:off x="2377440" y="2743200"/>
            <a:ext cx="1554480" cy="685800"/>
          </a:xfrm>
          <a:prstGeom prst="round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Kafka</a:t>
            </a:r>
          </a:p>
          <a:p>
            <a:pPr algn="ctr">
              <a:defRPr sz="900">
                <a:solidFill>
                  <a:srgbClr val="FFDDDD"/>
                </a:solidFill>
              </a:defRPr>
            </a:pPr>
            <a:r>
              <a:t>4 topics streaming</a:t>
            </a:r>
          </a:p>
        </p:txBody>
      </p:sp>
      <p:pic>
        <p:nvPicPr>
          <p:cNvPr id="20" name="Picture 19" descr="logo-kafka.png"/>
          <p:cNvPicPr>
            <a:picLocks noChangeAspect="1"/>
          </p:cNvPicPr>
          <p:nvPr/>
        </p:nvPicPr>
        <p:blipFill>
          <a:blip r:embed="rId6"/>
          <a:stretch>
            <a:fillRect/>
          </a:stretch>
        </p:blipFill>
        <p:spPr>
          <a:xfrm>
            <a:off x="3639312" y="2779776"/>
            <a:ext cx="256032" cy="256032"/>
          </a:xfrm>
          <a:prstGeom prst="rect">
            <a:avLst/>
          </a:prstGeom>
        </p:spPr>
      </p:pic>
      <p:sp>
        <p:nvSpPr>
          <p:cNvPr id="21" name="Rounded Rectangle 20"/>
          <p:cNvSpPr/>
          <p:nvPr/>
        </p:nvSpPr>
        <p:spPr>
          <a:xfrm>
            <a:off x="2377440" y="3566160"/>
            <a:ext cx="1554480" cy="685800"/>
          </a:xfrm>
          <a:prstGeom prst="round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Python CDC</a:t>
            </a:r>
          </a:p>
          <a:p>
            <a:pPr algn="ctr">
              <a:defRPr sz="900">
                <a:solidFill>
                  <a:srgbClr val="FFDDDD"/>
                </a:solidFill>
              </a:defRPr>
            </a:pPr>
            <a:r>
              <a:t>micro-batch 500</a:t>
            </a:r>
          </a:p>
        </p:txBody>
      </p:sp>
      <p:pic>
        <p:nvPicPr>
          <p:cNvPr id="22" name="Picture 21" descr="logo-python.png"/>
          <p:cNvPicPr>
            <a:picLocks noChangeAspect="1"/>
          </p:cNvPicPr>
          <p:nvPr/>
        </p:nvPicPr>
        <p:blipFill>
          <a:blip r:embed="rId7"/>
          <a:stretch>
            <a:fillRect/>
          </a:stretch>
        </p:blipFill>
        <p:spPr>
          <a:xfrm>
            <a:off x="3639312" y="3602736"/>
            <a:ext cx="256032" cy="256032"/>
          </a:xfrm>
          <a:prstGeom prst="rect">
            <a:avLst/>
          </a:prstGeom>
        </p:spPr>
      </p:pic>
      <p:sp>
        <p:nvSpPr>
          <p:cNvPr id="23" name="Rounded Rectangle 22"/>
          <p:cNvSpPr/>
          <p:nvPr/>
        </p:nvSpPr>
        <p:spPr>
          <a:xfrm>
            <a:off x="2377440" y="4389120"/>
            <a:ext cx="1554480" cy="685800"/>
          </a:xfrm>
          <a:prstGeom prst="round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Python Bulk</a:t>
            </a:r>
          </a:p>
          <a:p>
            <a:pPr algn="ctr">
              <a:defRPr sz="900">
                <a:solidFill>
                  <a:srgbClr val="FFDDDD"/>
                </a:solidFill>
              </a:defRPr>
            </a:pPr>
            <a:r>
              <a:t>Parquet + COPY INTO</a:t>
            </a:r>
          </a:p>
        </p:txBody>
      </p:sp>
      <p:pic>
        <p:nvPicPr>
          <p:cNvPr id="24" name="Picture 23" descr="logo-python.png"/>
          <p:cNvPicPr>
            <a:picLocks noChangeAspect="1"/>
          </p:cNvPicPr>
          <p:nvPr/>
        </p:nvPicPr>
        <p:blipFill>
          <a:blip r:embed="rId7"/>
          <a:stretch>
            <a:fillRect/>
          </a:stretch>
        </p:blipFill>
        <p:spPr>
          <a:xfrm>
            <a:off x="3639312" y="4425696"/>
            <a:ext cx="256032" cy="256032"/>
          </a:xfrm>
          <a:prstGeom prst="rect">
            <a:avLst/>
          </a:prstGeom>
        </p:spPr>
      </p:pic>
      <p:sp>
        <p:nvSpPr>
          <p:cNvPr id="25" name="Right Arrow 24"/>
          <p:cNvSpPr/>
          <p:nvPr/>
        </p:nvSpPr>
        <p:spPr>
          <a:xfrm>
            <a:off x="4114800" y="2926080"/>
            <a:ext cx="274320" cy="228600"/>
          </a:xfrm>
          <a:prstGeom prst="rightArrow">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389120" y="1371600"/>
            <a:ext cx="4937760" cy="4754880"/>
          </a:xfrm>
          <a:prstGeom prst="roundRect">
            <a:avLst/>
          </a:prstGeom>
          <a:solidFill>
            <a:srgbClr val="F9F9F9"/>
          </a:solidFill>
          <a:ln w="2540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80" y="1463040"/>
            <a:ext cx="4663440" cy="274320"/>
          </a:xfrm>
          <a:prstGeom prst="rect">
            <a:avLst/>
          </a:prstGeom>
          <a:noFill/>
        </p:spPr>
        <p:txBody>
          <a:bodyPr wrap="none">
            <a:spAutoFit/>
          </a:bodyPr>
          <a:lstStyle/>
          <a:p>
            <a:pPr algn="l">
              <a:defRPr sz="1200" b="1">
                <a:solidFill>
                  <a:srgbClr val="C8102E"/>
                </a:solidFill>
              </a:defRPr>
            </a:pPr>
            <a:r>
              <a:t>     SNOWFLAKE DWH</a:t>
            </a:r>
          </a:p>
        </p:txBody>
      </p:sp>
      <p:pic>
        <p:nvPicPr>
          <p:cNvPr id="28" name="Picture 27" descr="logo-snowflake.png"/>
          <p:cNvPicPr>
            <a:picLocks noChangeAspect="1"/>
          </p:cNvPicPr>
          <p:nvPr/>
        </p:nvPicPr>
        <p:blipFill>
          <a:blip r:embed="rId8"/>
          <a:stretch>
            <a:fillRect/>
          </a:stretch>
        </p:blipFill>
        <p:spPr>
          <a:xfrm>
            <a:off x="7498079" y="1417320"/>
            <a:ext cx="413064" cy="411480"/>
          </a:xfrm>
          <a:prstGeom prst="rect">
            <a:avLst/>
          </a:prstGeom>
        </p:spPr>
      </p:pic>
      <p:sp>
        <p:nvSpPr>
          <p:cNvPr id="29" name="Rounded Rectangle 28"/>
          <p:cNvSpPr/>
          <p:nvPr/>
        </p:nvSpPr>
        <p:spPr>
          <a:xfrm>
            <a:off x="4572000" y="2468880"/>
            <a:ext cx="1005840" cy="1371600"/>
          </a:xfrm>
          <a:prstGeom prst="roundRect">
            <a:avLst/>
          </a:prstGeom>
          <a:solidFill>
            <a:srgbClr val="E040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RAW</a:t>
            </a:r>
          </a:p>
          <a:p>
            <a:pPr algn="ctr">
              <a:defRPr sz="900">
                <a:solidFill>
                  <a:srgbClr val="FFDDDD"/>
                </a:solidFill>
              </a:defRPr>
            </a:pPr>
            <a:r>
              <a:t>18 tables</a:t>
            </a:r>
            <a:br/>
            <a:r>
              <a:t>brutes</a:t>
            </a:r>
          </a:p>
        </p:txBody>
      </p:sp>
      <p:sp>
        <p:nvSpPr>
          <p:cNvPr id="30" name="Right Arrow 29"/>
          <p:cNvSpPr/>
          <p:nvPr/>
        </p:nvSpPr>
        <p:spPr>
          <a:xfrm>
            <a:off x="5577840" y="3063240"/>
            <a:ext cx="228600" cy="228600"/>
          </a:xfrm>
          <a:prstGeom prst="rightArrow">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989320" y="2148840"/>
            <a:ext cx="3063240" cy="2148840"/>
          </a:xfrm>
          <a:prstGeom prst="roundRect">
            <a:avLst/>
          </a:prstGeom>
          <a:solidFill>
            <a:srgbClr val="FDF8F8"/>
          </a:solidFill>
          <a:ln w="19050">
            <a:solidFill>
              <a:srgbClr val="C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62472" y="2176272"/>
            <a:ext cx="2916936" cy="228600"/>
          </a:xfrm>
          <a:prstGeom prst="rect">
            <a:avLst/>
          </a:prstGeom>
          <a:noFill/>
        </p:spPr>
        <p:txBody>
          <a:bodyPr wrap="none">
            <a:spAutoFit/>
          </a:bodyPr>
          <a:lstStyle/>
          <a:p>
            <a:pPr algn="l">
              <a:defRPr sz="1000" b="1">
                <a:solidFill>
                  <a:srgbClr val="C06060"/>
                </a:solidFill>
              </a:defRPr>
            </a:pPr>
            <a:r>
              <a:t>Transformation dbt</a:t>
            </a:r>
          </a:p>
        </p:txBody>
      </p:sp>
      <p:pic>
        <p:nvPicPr>
          <p:cNvPr id="33" name="Picture 32" descr="logo-dbt.png"/>
          <p:cNvPicPr>
            <a:picLocks noChangeAspect="1"/>
          </p:cNvPicPr>
          <p:nvPr/>
        </p:nvPicPr>
        <p:blipFill>
          <a:blip r:embed="rId9"/>
          <a:stretch>
            <a:fillRect/>
          </a:stretch>
        </p:blipFill>
        <p:spPr>
          <a:xfrm>
            <a:off x="7452360" y="2167128"/>
            <a:ext cx="433503" cy="201168"/>
          </a:xfrm>
          <a:prstGeom prst="rect">
            <a:avLst/>
          </a:prstGeom>
        </p:spPr>
      </p:pic>
      <p:sp>
        <p:nvSpPr>
          <p:cNvPr id="34" name="Rounded Rectangle 33"/>
          <p:cNvSpPr/>
          <p:nvPr/>
        </p:nvSpPr>
        <p:spPr>
          <a:xfrm>
            <a:off x="6172200" y="2651760"/>
            <a:ext cx="1097280" cy="137160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STAGING</a:t>
            </a:r>
          </a:p>
          <a:p>
            <a:pPr algn="ctr">
              <a:defRPr sz="900">
                <a:solidFill>
                  <a:srgbClr val="FFDDDD"/>
                </a:solidFill>
              </a:defRPr>
            </a:pPr>
            <a:r>
              <a:t>18 modèles</a:t>
            </a:r>
            <a:br/>
            <a:r>
              <a:t>dédup + PII</a:t>
            </a:r>
          </a:p>
        </p:txBody>
      </p:sp>
      <p:sp>
        <p:nvSpPr>
          <p:cNvPr id="35" name="Right Arrow 34"/>
          <p:cNvSpPr/>
          <p:nvPr/>
        </p:nvSpPr>
        <p:spPr>
          <a:xfrm>
            <a:off x="7269480" y="3200400"/>
            <a:ext cx="182880" cy="228600"/>
          </a:xfrm>
          <a:prstGeom prst="rightArrow">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498079" y="2423160"/>
            <a:ext cx="1417320" cy="1828800"/>
          </a:xfrm>
          <a:prstGeom prst="roundRect">
            <a:avLst/>
          </a:prstGeom>
          <a:solidFill>
            <a:srgbClr val="FFF0F0"/>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71231" y="2450592"/>
            <a:ext cx="1271016" cy="228600"/>
          </a:xfrm>
          <a:prstGeom prst="rect">
            <a:avLst/>
          </a:prstGeom>
          <a:noFill/>
        </p:spPr>
        <p:txBody>
          <a:bodyPr wrap="none">
            <a:spAutoFit/>
          </a:bodyPr>
          <a:lstStyle/>
          <a:p>
            <a:pPr algn="l">
              <a:defRPr sz="900" b="1">
                <a:solidFill>
                  <a:srgbClr val="C8102E"/>
                </a:solidFill>
              </a:defRPr>
            </a:pPr>
            <a:r>
              <a:t>MARTS</a:t>
            </a:r>
          </a:p>
        </p:txBody>
      </p:sp>
      <p:sp>
        <p:nvSpPr>
          <p:cNvPr id="38" name="Rounded Rectangle 37"/>
          <p:cNvSpPr/>
          <p:nvPr/>
        </p:nvSpPr>
        <p:spPr>
          <a:xfrm>
            <a:off x="7635240" y="2788920"/>
            <a:ext cx="1143000" cy="38404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3 DIM</a:t>
            </a:r>
          </a:p>
        </p:txBody>
      </p:sp>
      <p:sp>
        <p:nvSpPr>
          <p:cNvPr id="39" name="Rounded Rectangle 38"/>
          <p:cNvSpPr/>
          <p:nvPr/>
        </p:nvSpPr>
        <p:spPr>
          <a:xfrm>
            <a:off x="7635240" y="3218688"/>
            <a:ext cx="1143000" cy="38404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8 FAITS</a:t>
            </a:r>
          </a:p>
        </p:txBody>
      </p:sp>
      <p:sp>
        <p:nvSpPr>
          <p:cNvPr id="40" name="Rounded Rectangle 39"/>
          <p:cNvSpPr/>
          <p:nvPr/>
        </p:nvSpPr>
        <p:spPr>
          <a:xfrm>
            <a:off x="7635240" y="3648456"/>
            <a:ext cx="1143000" cy="38404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15 KPIs</a:t>
            </a:r>
          </a:p>
        </p:txBody>
      </p:sp>
      <p:sp>
        <p:nvSpPr>
          <p:cNvPr id="41" name="Rounded Rectangle 40"/>
          <p:cNvSpPr/>
          <p:nvPr/>
        </p:nvSpPr>
        <p:spPr>
          <a:xfrm>
            <a:off x="4572000" y="4572000"/>
            <a:ext cx="4480560" cy="1325880"/>
          </a:xfrm>
          <a:prstGeom prst="roundRect">
            <a:avLst/>
          </a:prstGeom>
          <a:solidFill>
            <a:srgbClr val="FAF5F5"/>
          </a:solidFill>
          <a:ln w="19050">
            <a:solidFill>
              <a:srgbClr val="A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45152" y="4599432"/>
            <a:ext cx="4334256" cy="228600"/>
          </a:xfrm>
          <a:prstGeom prst="rect">
            <a:avLst/>
          </a:prstGeom>
          <a:noFill/>
        </p:spPr>
        <p:txBody>
          <a:bodyPr wrap="none">
            <a:spAutoFit/>
          </a:bodyPr>
          <a:lstStyle/>
          <a:p>
            <a:pPr algn="l">
              <a:defRPr sz="1000" b="1">
                <a:solidFill>
                  <a:srgbClr val="A03030"/>
                </a:solidFill>
              </a:defRPr>
            </a:pPr>
            <a:r>
              <a:t>dbt</a:t>
            </a:r>
          </a:p>
        </p:txBody>
      </p:sp>
      <p:pic>
        <p:nvPicPr>
          <p:cNvPr id="43" name="Picture 42" descr="logo-dbt.png"/>
          <p:cNvPicPr>
            <a:picLocks noChangeAspect="1"/>
          </p:cNvPicPr>
          <p:nvPr/>
        </p:nvPicPr>
        <p:blipFill>
          <a:blip r:embed="rId9"/>
          <a:stretch>
            <a:fillRect/>
          </a:stretch>
        </p:blipFill>
        <p:spPr>
          <a:xfrm>
            <a:off x="4937760" y="4590288"/>
            <a:ext cx="433503" cy="201168"/>
          </a:xfrm>
          <a:prstGeom prst="rect">
            <a:avLst/>
          </a:prstGeom>
        </p:spPr>
      </p:pic>
      <p:sp>
        <p:nvSpPr>
          <p:cNvPr id="44" name="Rounded Rectangle 43"/>
          <p:cNvSpPr/>
          <p:nvPr/>
        </p:nvSpPr>
        <p:spPr>
          <a:xfrm>
            <a:off x="4709160" y="4937760"/>
            <a:ext cx="2011680" cy="594360"/>
          </a:xfrm>
          <a:prstGeom prst="roundRect">
            <a:avLst/>
          </a:prstGeom>
          <a:solidFill>
            <a:srgbClr val="A0303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AUDIT</a:t>
            </a:r>
          </a:p>
          <a:p>
            <a:pPr algn="ctr">
              <a:defRPr sz="900">
                <a:solidFill>
                  <a:srgbClr val="FFDDDD"/>
                </a:solidFill>
              </a:defRPr>
            </a:pPr>
            <a:r>
              <a:t>lineage + runs</a:t>
            </a:r>
          </a:p>
        </p:txBody>
      </p:sp>
      <p:sp>
        <p:nvSpPr>
          <p:cNvPr id="45" name="Rounded Rectangle 44"/>
          <p:cNvSpPr/>
          <p:nvPr/>
        </p:nvSpPr>
        <p:spPr>
          <a:xfrm>
            <a:off x="6903720" y="4937760"/>
            <a:ext cx="2011680" cy="594360"/>
          </a:xfrm>
          <a:prstGeom prst="roundRect">
            <a:avLst/>
          </a:prstGeom>
          <a:solidFill>
            <a:srgbClr val="A0303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SNAPSHOTS</a:t>
            </a:r>
          </a:p>
          <a:p>
            <a:pPr algn="ctr">
              <a:defRPr sz="900">
                <a:solidFill>
                  <a:srgbClr val="FFDDDD"/>
                </a:solidFill>
              </a:defRPr>
            </a:pPr>
            <a:r>
              <a:t>SCD2 dimensions</a:t>
            </a:r>
          </a:p>
        </p:txBody>
      </p:sp>
      <p:sp>
        <p:nvSpPr>
          <p:cNvPr id="46" name="Right Arrow 45"/>
          <p:cNvSpPr/>
          <p:nvPr/>
        </p:nvSpPr>
        <p:spPr>
          <a:xfrm>
            <a:off x="9326880" y="2926080"/>
            <a:ext cx="320040" cy="228600"/>
          </a:xfrm>
          <a:prstGeom prst="rightArrow">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646920" y="1371600"/>
            <a:ext cx="2286000" cy="4754880"/>
          </a:xfrm>
          <a:prstGeom prst="roundRect">
            <a:avLst/>
          </a:prstGeom>
          <a:solidFill>
            <a:srgbClr val="F9F9F9"/>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84080" y="1463040"/>
            <a:ext cx="2011680" cy="274320"/>
          </a:xfrm>
          <a:prstGeom prst="rect">
            <a:avLst/>
          </a:prstGeom>
          <a:noFill/>
        </p:spPr>
        <p:txBody>
          <a:bodyPr wrap="none">
            <a:spAutoFit/>
          </a:bodyPr>
          <a:lstStyle/>
          <a:p>
            <a:pPr algn="l">
              <a:defRPr sz="1200" b="1">
                <a:solidFill>
                  <a:srgbClr val="2E7D32"/>
                </a:solidFill>
              </a:defRPr>
            </a:pPr>
            <a:r>
              <a:t>EXPOSITION</a:t>
            </a:r>
          </a:p>
        </p:txBody>
      </p:sp>
      <p:sp>
        <p:nvSpPr>
          <p:cNvPr id="49" name="Rounded Rectangle 48"/>
          <p:cNvSpPr/>
          <p:nvPr/>
        </p:nvSpPr>
        <p:spPr>
          <a:xfrm>
            <a:off x="9829800" y="1920240"/>
            <a:ext cx="1920240" cy="5943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Power BI</a:t>
            </a:r>
          </a:p>
          <a:p>
            <a:pPr algn="ctr">
              <a:defRPr sz="900">
                <a:solidFill>
                  <a:srgbClr val="FFDDDD"/>
                </a:solidFill>
              </a:defRPr>
            </a:pPr>
            <a:r>
              <a:t>dashboards</a:t>
            </a:r>
          </a:p>
        </p:txBody>
      </p:sp>
      <p:pic>
        <p:nvPicPr>
          <p:cNvPr id="50" name="Picture 49" descr="logo-powerbi.png"/>
          <p:cNvPicPr>
            <a:picLocks noChangeAspect="1"/>
          </p:cNvPicPr>
          <p:nvPr/>
        </p:nvPicPr>
        <p:blipFill>
          <a:blip r:embed="rId10"/>
          <a:stretch>
            <a:fillRect/>
          </a:stretch>
        </p:blipFill>
        <p:spPr>
          <a:xfrm>
            <a:off x="11457432" y="1956816"/>
            <a:ext cx="192024" cy="256032"/>
          </a:xfrm>
          <a:prstGeom prst="rect">
            <a:avLst/>
          </a:prstGeom>
        </p:spPr>
      </p:pic>
      <p:sp>
        <p:nvSpPr>
          <p:cNvPr id="51" name="Rounded Rectangle 50"/>
          <p:cNvSpPr/>
          <p:nvPr/>
        </p:nvSpPr>
        <p:spPr>
          <a:xfrm>
            <a:off x="9829800" y="2697480"/>
            <a:ext cx="1920240" cy="5943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Tableau</a:t>
            </a:r>
          </a:p>
          <a:p>
            <a:pPr algn="ctr">
              <a:defRPr sz="900">
                <a:solidFill>
                  <a:srgbClr val="FFDDDD"/>
                </a:solidFill>
              </a:defRPr>
            </a:pPr>
            <a:r>
              <a:t>visualisation</a:t>
            </a:r>
          </a:p>
        </p:txBody>
      </p:sp>
      <p:pic>
        <p:nvPicPr>
          <p:cNvPr id="52" name="Picture 51" descr="logo-tableau.png"/>
          <p:cNvPicPr>
            <a:picLocks noChangeAspect="1"/>
          </p:cNvPicPr>
          <p:nvPr/>
        </p:nvPicPr>
        <p:blipFill>
          <a:blip r:embed="rId11"/>
          <a:stretch>
            <a:fillRect/>
          </a:stretch>
        </p:blipFill>
        <p:spPr>
          <a:xfrm>
            <a:off x="11512296" y="2734056"/>
            <a:ext cx="201168" cy="201168"/>
          </a:xfrm>
          <a:prstGeom prst="rect">
            <a:avLst/>
          </a:prstGeom>
        </p:spPr>
      </p:pic>
      <p:sp>
        <p:nvSpPr>
          <p:cNvPr id="53" name="Rounded Rectangle 52"/>
          <p:cNvSpPr/>
          <p:nvPr/>
        </p:nvSpPr>
        <p:spPr>
          <a:xfrm>
            <a:off x="9829800" y="3474720"/>
            <a:ext cx="1920240" cy="5943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Metabase</a:t>
            </a:r>
          </a:p>
          <a:p>
            <a:pPr algn="ctr">
              <a:defRPr sz="900">
                <a:solidFill>
                  <a:srgbClr val="FFDDDD"/>
                </a:solidFill>
              </a:defRPr>
            </a:pPr>
            <a:r>
              <a:t>self-service BI</a:t>
            </a:r>
          </a:p>
        </p:txBody>
      </p:sp>
      <p:pic>
        <p:nvPicPr>
          <p:cNvPr id="54" name="Picture 53" descr="logo-metabase.png"/>
          <p:cNvPicPr>
            <a:picLocks noChangeAspect="1"/>
          </p:cNvPicPr>
          <p:nvPr/>
        </p:nvPicPr>
        <p:blipFill>
          <a:blip r:embed="rId12"/>
          <a:stretch>
            <a:fillRect/>
          </a:stretch>
        </p:blipFill>
        <p:spPr>
          <a:xfrm>
            <a:off x="11457432" y="3511296"/>
            <a:ext cx="202525" cy="256032"/>
          </a:xfrm>
          <a:prstGeom prst="rect">
            <a:avLst/>
          </a:prstGeom>
        </p:spPr>
      </p:pic>
      <p:sp>
        <p:nvSpPr>
          <p:cNvPr id="55" name="Rounded Rectangle 54"/>
          <p:cNvSpPr/>
          <p:nvPr/>
        </p:nvSpPr>
        <p:spPr>
          <a:xfrm>
            <a:off x="9829800" y="4251960"/>
            <a:ext cx="1920240" cy="5943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API / Exports</a:t>
            </a:r>
          </a:p>
          <a:p>
            <a:pPr algn="ctr">
              <a:defRPr sz="900">
                <a:solidFill>
                  <a:srgbClr val="FFDDDD"/>
                </a:solidFill>
              </a:defRPr>
            </a:pPr>
            <a:r>
              <a:t>intégrations</a:t>
            </a:r>
          </a:p>
        </p:txBody>
      </p:sp>
      <p:sp>
        <p:nvSpPr>
          <p:cNvPr id="56" name="Rounded Rectangle 55"/>
          <p:cNvSpPr/>
          <p:nvPr/>
        </p:nvSpPr>
        <p:spPr>
          <a:xfrm>
            <a:off x="274320" y="5989320"/>
            <a:ext cx="11612880" cy="411480"/>
          </a:xfrm>
          <a:prstGeom prst="roundRect">
            <a:avLst/>
          </a:prstGeom>
          <a:solidFill>
            <a:srgbClr val="E6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ORCHESTRATION &amp; MONITORING    |    batch_loop.sh (5-30 min)    |    Docker Compose (6 services)    |    CI/CD GitHub Actions → GHCR    |    Alertes Teams    |    Source freshness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8 / 21</a:t>
            </a:r>
          </a:p>
        </p:txBody>
      </p:sp>
      <p:pic>
        <p:nvPicPr>
          <p:cNvPr id="5" name="Picture 4" descr="logo-mediprix.png"/>
          <p:cNvPicPr>
            <a:picLocks noChangeAspect="1"/>
          </p:cNvPicPr>
          <p:nvPr/>
        </p:nvPicPr>
        <p:blipFill>
          <a:blip r:embed="rId2"/>
          <a:stretch>
            <a:fillRect/>
          </a:stretch>
        </p:blipFill>
        <p:spPr>
          <a:xfrm>
            <a:off x="10515600" y="137160"/>
            <a:ext cx="822960" cy="822960"/>
          </a:xfrm>
          <a:prstGeom prst="rect">
            <a:avLst/>
          </a:prstGeom>
        </p:spPr>
      </p:pic>
      <p:sp>
        <p:nvSpPr>
          <p:cNvPr id="6" name="TextBox 5"/>
          <p:cNvSpPr txBox="1"/>
          <p:nvPr/>
        </p:nvSpPr>
        <p:spPr>
          <a:xfrm>
            <a:off x="731520" y="137160"/>
            <a:ext cx="9601200" cy="822960"/>
          </a:xfrm>
          <a:prstGeom prst="rect">
            <a:avLst/>
          </a:prstGeom>
          <a:noFill/>
        </p:spPr>
        <p:txBody>
          <a:bodyPr wrap="square" anchor="ctr">
            <a:spAutoFit/>
          </a:bodyPr>
          <a:lstStyle/>
          <a:p>
            <a:pPr algn="l">
              <a:defRPr sz="2800" b="1">
                <a:solidFill>
                  <a:srgbClr val="FFFFFF"/>
                </a:solidFill>
              </a:defRPr>
            </a:pPr>
            <a:r>
              <a:t>Infrastructure Docker</a:t>
            </a:r>
          </a:p>
        </p:txBody>
      </p:sp>
      <p:sp>
        <p:nvSpPr>
          <p:cNvPr id="7" name="TextBox 6"/>
          <p:cNvSpPr txBox="1"/>
          <p:nvPr/>
        </p:nvSpPr>
        <p:spPr>
          <a:xfrm>
            <a:off x="731520" y="1463040"/>
            <a:ext cx="10698480" cy="4754880"/>
          </a:xfrm>
          <a:prstGeom prst="rect">
            <a:avLst/>
          </a:prstGeom>
          <a:noFill/>
        </p:spPr>
        <p:txBody>
          <a:bodyPr wrap="square">
            <a:spAutoFit/>
          </a:bodyPr>
          <a:lstStyle/>
          <a:p>
            <a:pPr>
              <a:spcBef>
                <a:spcPts val="1200"/>
              </a:spcBef>
              <a:spcAft>
                <a:spcPts val="400"/>
              </a:spcAft>
            </a:pPr>
            <a:r>
              <a:rPr sz="1800" b="1">
                <a:solidFill>
                  <a:srgbClr val="C8102E"/>
                </a:solidFill>
              </a:rPr>
              <a:t>6 services Docker Compose  :</a:t>
            </a:r>
            <a:r>
              <a:rPr sz="1800">
                <a:solidFill>
                  <a:srgbClr val="2D2D2D"/>
                </a:solidFill>
              </a:rPr>
              <a:t/>
            </a:r>
          </a:p>
          <a:p>
            <a:pPr lvl="1">
              <a:spcBef>
                <a:spcPts val="400"/>
              </a:spcBef>
              <a:spcAft>
                <a:spcPts val="400"/>
              </a:spcAft>
            </a:pPr>
            <a:r>
              <a:rPr sz="1600">
                <a:solidFill>
                  <a:srgbClr val="666666"/>
                </a:solidFill>
              </a:rPr>
              <a:t>medicore_elt_batch : conteneur principal (CDC + dbt + orchestration)</a:t>
            </a:r>
          </a:p>
          <a:p>
            <a:pPr lvl="1">
              <a:spcBef>
                <a:spcPts val="400"/>
              </a:spcBef>
              <a:spcAft>
                <a:spcPts val="400"/>
              </a:spcAft>
            </a:pPr>
            <a:r>
              <a:rPr sz="1600">
                <a:solidFill>
                  <a:srgbClr val="666666"/>
                </a:solidFill>
              </a:rPr>
              <a:t>mysql_cdc : base de données source (MySQL 8.0)</a:t>
            </a:r>
          </a:p>
          <a:p>
            <a:pPr lvl="1">
              <a:spcBef>
                <a:spcPts val="400"/>
              </a:spcBef>
              <a:spcAft>
                <a:spcPts val="400"/>
              </a:spcAft>
            </a:pPr>
            <a:r>
              <a:rPr sz="1600">
                <a:solidFill>
                  <a:srgbClr val="666666"/>
                </a:solidFill>
              </a:rPr>
              <a:t>kafka + zookeeper : streaming des événements CDC</a:t>
            </a:r>
          </a:p>
          <a:p>
            <a:pPr lvl="1">
              <a:spcBef>
                <a:spcPts val="400"/>
              </a:spcBef>
              <a:spcAft>
                <a:spcPts val="400"/>
              </a:spcAft>
            </a:pPr>
            <a:r>
              <a:rPr sz="1600">
                <a:solidFill>
                  <a:srgbClr val="666666"/>
                </a:solidFill>
              </a:rPr>
              <a:t>connect : Debezium 2.7.3 (capture des changements MySQL)</a:t>
            </a:r>
          </a:p>
          <a:p>
            <a:pPr lvl="1">
              <a:spcBef>
                <a:spcPts val="400"/>
              </a:spcBef>
              <a:spcAft>
                <a:spcPts val="400"/>
              </a:spcAft>
            </a:pPr>
            <a:r>
              <a:rPr sz="1600">
                <a:solidFill>
                  <a:srgbClr val="666666"/>
                </a:solidFill>
              </a:rPr>
              <a:t>kafdrop : interface web de monitoring Kafka</a:t>
            </a:r>
          </a:p>
          <a:p>
            <a:pPr>
              <a:spcBef>
                <a:spcPts val="1200"/>
              </a:spcBef>
              <a:spcAft>
                <a:spcPts val="400"/>
              </a:spcAft>
            </a:pPr>
            <a:r>
              <a:rPr sz="1800" b="1">
                <a:solidFill>
                  <a:srgbClr val="C8102E"/>
                </a:solidFill>
              </a:rPr>
              <a:t>Sécurité  :</a:t>
            </a:r>
            <a:r>
              <a:rPr sz="1800">
                <a:solidFill>
                  <a:srgbClr val="2D2D2D"/>
                </a:solidFill>
              </a:rPr>
              <a:t> ports bindés sur 127.0.0.1, conteneur non-root (appuser)</a:t>
            </a:r>
          </a:p>
          <a:p>
            <a:pPr>
              <a:spcBef>
                <a:spcPts val="1200"/>
              </a:spcBef>
              <a:spcAft>
                <a:spcPts val="400"/>
              </a:spcAft>
            </a:pPr>
            <a:r>
              <a:rPr sz="1800" b="1">
                <a:solidFill>
                  <a:srgbClr val="C8102E"/>
                </a:solidFill>
              </a:rPr>
              <a:t>Ressources  :</a:t>
            </a:r>
            <a:r>
              <a:rPr sz="1800">
                <a:solidFill>
                  <a:srgbClr val="2D2D2D"/>
                </a:solidFill>
              </a:rPr>
              <a:t> 8 GB RAM, 2 CPUs pour le conteneur principal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C8102E"/>
        </a:solidFill>
        <a:effectLst/>
      </p:bgPr>
    </p:bg>
    <p:spTree>
      <p:nvGrpSpPr>
        <p:cNvPr id="1" name=""/>
        <p:cNvGrpSpPr/>
        <p:nvPr/>
      </p:nvGrpSpPr>
      <p:grpSpPr/>
      <p:pic>
        <p:nvPicPr>
          <p:cNvPr id="2" name="Picture 1" descr="logo-mediprix.png"/>
          <p:cNvPicPr>
            <a:picLocks noChangeAspect="1"/>
          </p:cNvPicPr>
          <p:nvPr/>
        </p:nvPicPr>
        <p:blipFill>
          <a:blip r:embed="rId2"/>
          <a:stretch>
            <a:fillRect/>
          </a:stretch>
        </p:blipFill>
        <p:spPr>
          <a:xfrm>
            <a:off x="10332720" y="274320"/>
            <a:ext cx="731520" cy="731520"/>
          </a:xfrm>
          <a:prstGeom prst="rect">
            <a:avLst/>
          </a:prstGeom>
        </p:spPr>
      </p:pic>
      <p:sp>
        <p:nvSpPr>
          <p:cNvPr id="3" name="TextBox 2"/>
          <p:cNvSpPr txBox="1"/>
          <p:nvPr/>
        </p:nvSpPr>
        <p:spPr>
          <a:xfrm>
            <a:off x="914400" y="1828800"/>
            <a:ext cx="10332720" cy="914400"/>
          </a:xfrm>
          <a:prstGeom prst="rect">
            <a:avLst/>
          </a:prstGeom>
          <a:noFill/>
        </p:spPr>
        <p:txBody>
          <a:bodyPr wrap="none">
            <a:spAutoFit/>
          </a:bodyPr>
          <a:lstStyle/>
          <a:p>
            <a:pPr algn="ctr">
              <a:defRPr sz="7200" b="1">
                <a:solidFill>
                  <a:srgbClr val="FFFFFF"/>
                </a:solidFill>
              </a:defRPr>
            </a:pPr>
            <a:r>
              <a:t>03</a:t>
            </a:r>
          </a:p>
        </p:txBody>
      </p:sp>
      <p:sp>
        <p:nvSpPr>
          <p:cNvPr id="4" name="Rectangle 3"/>
          <p:cNvSpPr/>
          <p:nvPr/>
        </p:nvSpPr>
        <p:spPr>
          <a:xfrm>
            <a:off x="5029200" y="2926080"/>
            <a:ext cx="210312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0"/>
            <a:ext cx="10332720" cy="1097280"/>
          </a:xfrm>
          <a:prstGeom prst="rect">
            <a:avLst/>
          </a:prstGeom>
          <a:noFill/>
        </p:spPr>
        <p:txBody>
          <a:bodyPr wrap="square">
            <a:spAutoFit/>
          </a:bodyPr>
          <a:lstStyle/>
          <a:p>
            <a:pPr algn="ctr">
              <a:defRPr sz="3600">
                <a:solidFill>
                  <a:srgbClr val="FFFFFF"/>
                </a:solidFill>
              </a:defRPr>
            </a:pPr>
            <a:r>
              <a:t>Ingestion des données</a:t>
            </a:r>
          </a:p>
        </p:txBody>
      </p:sp>
      <p:sp>
        <p:nvSpPr>
          <p:cNvPr id="6" name="TextBox 5"/>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10 / 21</a:t>
            </a:r>
          </a:p>
        </p:txBody>
      </p:sp>
      <p:pic>
        <p:nvPicPr>
          <p:cNvPr id="5" name="Picture 4" descr="logo-mediprix.png"/>
          <p:cNvPicPr>
            <a:picLocks noChangeAspect="1"/>
          </p:cNvPicPr>
          <p:nvPr/>
        </p:nvPicPr>
        <p:blipFill>
          <a:blip r:embed="rId2"/>
          <a:stretch>
            <a:fillRect/>
          </a:stretch>
        </p:blipFill>
        <p:spPr>
          <a:xfrm>
            <a:off x="10515600" y="137160"/>
            <a:ext cx="822960" cy="822960"/>
          </a:xfrm>
          <a:prstGeom prst="rect">
            <a:avLst/>
          </a:prstGeom>
        </p:spPr>
      </p:pic>
      <p:sp>
        <p:nvSpPr>
          <p:cNvPr id="6" name="TextBox 5"/>
          <p:cNvSpPr txBox="1"/>
          <p:nvPr/>
        </p:nvSpPr>
        <p:spPr>
          <a:xfrm>
            <a:off x="731520" y="137160"/>
            <a:ext cx="9601200" cy="822960"/>
          </a:xfrm>
          <a:prstGeom prst="rect">
            <a:avLst/>
          </a:prstGeom>
          <a:noFill/>
        </p:spPr>
        <p:txBody>
          <a:bodyPr wrap="square" anchor="ctr">
            <a:spAutoFit/>
          </a:bodyPr>
          <a:lstStyle/>
          <a:p>
            <a:pPr>
              <a:defRPr sz="2800" b="1">
                <a:solidFill>
                  <a:srgbClr val="FFFFFF"/>
                </a:solidFill>
              </a:defRPr>
            </a:pPr>
            <a:r>
              <a:t>Deux flux d'ingestion</a:t>
            </a:r>
          </a:p>
        </p:txBody>
      </p:sp>
      <p:sp>
        <p:nvSpPr>
          <p:cNvPr id="7" name="TextBox 6"/>
          <p:cNvSpPr txBox="1"/>
          <p:nvPr/>
        </p:nvSpPr>
        <p:spPr>
          <a:xfrm>
            <a:off x="731520" y="1371600"/>
            <a:ext cx="5029200" cy="457200"/>
          </a:xfrm>
          <a:prstGeom prst="rect">
            <a:avLst/>
          </a:prstGeom>
          <a:noFill/>
        </p:spPr>
        <p:txBody>
          <a:bodyPr wrap="none">
            <a:spAutoFit/>
          </a:bodyPr>
          <a:lstStyle/>
          <a:p>
            <a:pPr>
              <a:defRPr sz="2000" b="1">
                <a:solidFill>
                  <a:srgbClr val="C8102E"/>
                </a:solidFill>
              </a:defRPr>
            </a:pPr>
            <a:r>
              <a:t>CDC temps réel (4 tables)</a:t>
            </a:r>
          </a:p>
        </p:txBody>
      </p:sp>
      <p:sp>
        <p:nvSpPr>
          <p:cNvPr id="8" name="TextBox 7"/>
          <p:cNvSpPr txBox="1"/>
          <p:nvPr/>
        </p:nvSpPr>
        <p:spPr>
          <a:xfrm>
            <a:off x="731520" y="1920240"/>
            <a:ext cx="5029200" cy="4206240"/>
          </a:xfrm>
          <a:prstGeom prst="rect">
            <a:avLst/>
          </a:prstGeom>
          <a:noFill/>
        </p:spPr>
        <p:txBody>
          <a:bodyPr wrap="square">
            <a:spAutoFit/>
          </a:bodyPr>
          <a:lstStyle/>
          <a:p>
            <a:pPr>
              <a:spcBef>
                <a:spcPts val="800"/>
              </a:spcBef>
              <a:spcAft>
                <a:spcPts val="200"/>
              </a:spcAft>
            </a:pPr>
            <a:r>
              <a:rPr sz="1600" b="1">
                <a:solidFill>
                  <a:srgbClr val="C8102E"/>
                </a:solidFill>
              </a:rPr>
              <a:t>Debezium  :</a:t>
            </a:r>
            <a:r>
              <a:rPr sz="1600">
                <a:solidFill>
                  <a:srgbClr val="2D2D2D"/>
                </a:solidFill>
              </a:rPr>
              <a:t> lecture du binlog MySQL</a:t>
            </a:r>
          </a:p>
          <a:p>
            <a:pPr>
              <a:spcBef>
                <a:spcPts val="800"/>
              </a:spcBef>
              <a:spcAft>
                <a:spcPts val="200"/>
              </a:spcAft>
            </a:pPr>
            <a:r>
              <a:rPr sz="1600" b="1">
                <a:solidFill>
                  <a:srgbClr val="C8102E"/>
                </a:solidFill>
              </a:rPr>
              <a:t>Kafka  :</a:t>
            </a:r>
            <a:r>
              <a:rPr sz="1600">
                <a:solidFill>
                  <a:srgbClr val="2D2D2D"/>
                </a:solidFill>
              </a:rPr>
              <a:t> publication sur 4 topics</a:t>
            </a:r>
          </a:p>
          <a:p>
            <a:pPr>
              <a:spcBef>
                <a:spcPts val="800"/>
              </a:spcBef>
              <a:spcAft>
                <a:spcPts val="200"/>
              </a:spcAft>
            </a:pPr>
            <a:r>
              <a:rPr sz="1600" b="1">
                <a:solidFill>
                  <a:srgbClr val="C8102E"/>
                </a:solidFill>
              </a:rPr>
              <a:t>Consumer Python  :</a:t>
            </a:r>
            <a:r>
              <a:rPr sz="1600">
                <a:solidFill>
                  <a:srgbClr val="2D2D2D"/>
                </a:solidFill>
              </a:rPr>
              <a:t> micro-batch 500 events</a:t>
            </a:r>
          </a:p>
          <a:p>
            <a:pPr>
              <a:spcBef>
                <a:spcPts val="800"/>
              </a:spcBef>
              <a:spcAft>
                <a:spcPts val="200"/>
              </a:spcAft>
            </a:pPr>
            <a:r>
              <a:rPr sz="1600" b="1">
                <a:solidFill>
                  <a:srgbClr val="C8102E"/>
                </a:solidFill>
              </a:rPr>
              <a:t>INSERT  :</a:t>
            </a:r>
            <a:r>
              <a:rPr sz="1600">
                <a:solidFill>
                  <a:srgbClr val="2D2D2D"/>
                </a:solidFill>
              </a:rPr>
              <a:t> écriture dans Snowflake RAW</a:t>
            </a:r>
          </a:p>
          <a:p>
            <a:pPr>
              <a:spcBef>
                <a:spcPts val="800"/>
              </a:spcBef>
              <a:spcAft>
                <a:spcPts val="200"/>
              </a:spcAft>
            </a:pPr>
            <a:r>
              <a:rPr sz="1600" b="1">
                <a:solidFill>
                  <a:srgbClr val="C8102E"/>
                </a:solidFill>
              </a:rPr>
              <a:t>Commit Kafka  :</a:t>
            </a:r>
            <a:r>
              <a:rPr sz="1600">
                <a:solidFill>
                  <a:srgbClr val="2D2D2D"/>
                </a:solidFill>
              </a:rPr>
              <a:t> après flush réussi uniquement</a:t>
            </a:r>
          </a:p>
          <a:p>
            <a:pPr>
              <a:spcBef>
                <a:spcPts val="800"/>
              </a:spcBef>
              <a:spcAft>
                <a:spcPts val="200"/>
              </a:spcAft>
            </a:pPr>
            <a:r>
              <a:rPr sz="1600" b="1">
                <a:solidFill>
                  <a:srgbClr val="C8102E"/>
                </a:solidFill>
              </a:rPr>
              <a:t>DLQ  :</a:t>
            </a:r>
            <a:r>
              <a:rPr sz="1600">
                <a:solidFill>
                  <a:srgbClr val="2D2D2D"/>
                </a:solidFill>
              </a:rPr>
              <a:t> events malformés conservés</a:t>
            </a:r>
          </a:p>
          <a:p>
            <a:pPr>
              <a:spcBef>
                <a:spcPts val="800"/>
              </a:spcBef>
              <a:spcAft>
                <a:spcPts val="200"/>
              </a:spcAft>
            </a:pPr>
            <a:r>
              <a:rPr sz="1600" b="1">
                <a:solidFill>
                  <a:srgbClr val="C8102E"/>
                </a:solidFill>
              </a:rPr>
              <a:t>Cycle  :</a:t>
            </a:r>
            <a:r>
              <a:rPr sz="1600">
                <a:solidFill>
                  <a:srgbClr val="2D2D2D"/>
                </a:solidFill>
              </a:rPr>
              <a:t> toutes les 5-30 min</a:t>
            </a:r>
          </a:p>
        </p:txBody>
      </p:sp>
      <p:sp>
        <p:nvSpPr>
          <p:cNvPr id="9" name="TextBox 8"/>
          <p:cNvSpPr txBox="1"/>
          <p:nvPr/>
        </p:nvSpPr>
        <p:spPr>
          <a:xfrm>
            <a:off x="6400800" y="1371600"/>
            <a:ext cx="5029200" cy="457200"/>
          </a:xfrm>
          <a:prstGeom prst="rect">
            <a:avLst/>
          </a:prstGeom>
          <a:noFill/>
        </p:spPr>
        <p:txBody>
          <a:bodyPr wrap="none">
            <a:spAutoFit/>
          </a:bodyPr>
          <a:lstStyle/>
          <a:p>
            <a:pPr>
              <a:defRPr sz="2000" b="1">
                <a:solidFill>
                  <a:srgbClr val="C8102E"/>
                </a:solidFill>
              </a:defRPr>
            </a:pPr>
            <a:r>
              <a:t>Bulk load quotidien (14 tables)</a:t>
            </a:r>
          </a:p>
        </p:txBody>
      </p:sp>
      <p:sp>
        <p:nvSpPr>
          <p:cNvPr id="10" name="TextBox 9"/>
          <p:cNvSpPr txBox="1"/>
          <p:nvPr/>
        </p:nvSpPr>
        <p:spPr>
          <a:xfrm>
            <a:off x="6400800" y="1920240"/>
            <a:ext cx="5029200" cy="4206240"/>
          </a:xfrm>
          <a:prstGeom prst="rect">
            <a:avLst/>
          </a:prstGeom>
          <a:noFill/>
        </p:spPr>
        <p:txBody>
          <a:bodyPr wrap="square">
            <a:spAutoFit/>
          </a:bodyPr>
          <a:lstStyle/>
          <a:p>
            <a:pPr>
              <a:spcBef>
                <a:spcPts val="800"/>
              </a:spcBef>
              <a:spcAft>
                <a:spcPts val="200"/>
              </a:spcAft>
            </a:pPr>
            <a:r>
              <a:rPr sz="1600" b="1">
                <a:solidFill>
                  <a:srgbClr val="C8102E"/>
                </a:solidFill>
              </a:rPr>
              <a:t>MySQL SELECT  :</a:t>
            </a:r>
            <a:r>
              <a:rPr sz="1600">
                <a:solidFill>
                  <a:srgbClr val="2D2D2D"/>
                </a:solidFill>
              </a:rPr>
              <a:t> cursor streaming server-side</a:t>
            </a:r>
          </a:p>
          <a:p>
            <a:pPr>
              <a:spcBef>
                <a:spcPts val="800"/>
              </a:spcBef>
              <a:spcAft>
                <a:spcPts val="200"/>
              </a:spcAft>
            </a:pPr>
            <a:r>
              <a:rPr sz="1600" b="1">
                <a:solidFill>
                  <a:srgbClr val="C8102E"/>
                </a:solidFill>
              </a:rPr>
              <a:t>Parquet  :</a:t>
            </a:r>
            <a:r>
              <a:rPr sz="1600">
                <a:solidFill>
                  <a:srgbClr val="2D2D2D"/>
                </a:solidFill>
              </a:rPr>
              <a:t> écriture par chunks 500K rows</a:t>
            </a:r>
          </a:p>
          <a:p>
            <a:pPr>
              <a:spcBef>
                <a:spcPts val="800"/>
              </a:spcBef>
              <a:spcAft>
                <a:spcPts val="200"/>
              </a:spcAft>
            </a:pPr>
            <a:r>
              <a:rPr sz="1600" b="1">
                <a:solidFill>
                  <a:srgbClr val="C8102E"/>
                </a:solidFill>
              </a:rPr>
              <a:t>Snowflake  :</a:t>
            </a:r>
            <a:r>
              <a:rPr sz="1600">
                <a:solidFill>
                  <a:srgbClr val="2D2D2D"/>
                </a:solidFill>
              </a:rPr>
              <a:t> PUT vers stage interne</a:t>
            </a:r>
          </a:p>
          <a:p>
            <a:pPr>
              <a:spcBef>
                <a:spcPts val="800"/>
              </a:spcBef>
              <a:spcAft>
                <a:spcPts val="200"/>
              </a:spcAft>
            </a:pPr>
            <a:r>
              <a:rPr sz="1600" b="1">
                <a:solidFill>
                  <a:srgbClr val="C8102E"/>
                </a:solidFill>
              </a:rPr>
              <a:t>COPY INTO  :</a:t>
            </a:r>
            <a:r>
              <a:rPr sz="1600">
                <a:solidFill>
                  <a:srgbClr val="2D2D2D"/>
                </a:solidFill>
              </a:rPr>
              <a:t> avec FORCE=TRUE</a:t>
            </a:r>
          </a:p>
          <a:p>
            <a:pPr>
              <a:spcBef>
                <a:spcPts val="800"/>
              </a:spcBef>
              <a:spcAft>
                <a:spcPts val="200"/>
              </a:spcAft>
            </a:pPr>
            <a:r>
              <a:rPr sz="1600" b="1">
                <a:solidFill>
                  <a:srgbClr val="C8102E"/>
                </a:solidFill>
              </a:rPr>
              <a:t>Rechargement  :</a:t>
            </a:r>
            <a:r>
              <a:rPr sz="1600">
                <a:solidFill>
                  <a:srgbClr val="2D2D2D"/>
                </a:solidFill>
              </a:rPr>
              <a:t> TRUNCATE + reload à 03h00</a:t>
            </a:r>
          </a:p>
          <a:p>
            <a:pPr>
              <a:spcBef>
                <a:spcPts val="800"/>
              </a:spcBef>
              <a:spcAft>
                <a:spcPts val="200"/>
              </a:spcAft>
            </a:pPr>
            <a:r>
              <a:rPr sz="1600" b="1">
                <a:solidFill>
                  <a:srgbClr val="C8102E"/>
                </a:solidFill>
              </a:rPr>
              <a:t>Mémoire  :</a:t>
            </a:r>
            <a:r>
              <a:rPr sz="1600">
                <a:solidFill>
                  <a:srgbClr val="2D2D2D"/>
                </a:solidFill>
              </a:rPr>
              <a:t> gc.collect() après chaque chunk</a:t>
            </a:r>
          </a:p>
          <a:p>
            <a:pPr>
              <a:spcBef>
                <a:spcPts val="800"/>
              </a:spcBef>
              <a:spcAft>
                <a:spcPts val="200"/>
              </a:spcAft>
            </a:pPr>
            <a:r>
              <a:rPr sz="1600" b="1">
                <a:solidFill>
                  <a:srgbClr val="C8102E"/>
                </a:solidFill>
              </a:rPr>
              <a:t>Volume  :</a:t>
            </a:r>
            <a:r>
              <a:rPr sz="1600">
                <a:solidFill>
                  <a:srgbClr val="2D2D2D"/>
                </a:solidFill>
              </a:rPr>
              <a:t> 920M+ lignes chargées au total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11 / 21</a:t>
            </a:r>
          </a:p>
        </p:txBody>
      </p:sp>
      <p:pic>
        <p:nvPicPr>
          <p:cNvPr id="5" name="Picture 4" descr="logo-mediprix.png"/>
          <p:cNvPicPr>
            <a:picLocks noChangeAspect="1"/>
          </p:cNvPicPr>
          <p:nvPr/>
        </p:nvPicPr>
        <p:blipFill>
          <a:blip r:embed="rId2"/>
          <a:stretch>
            <a:fillRect/>
          </a:stretch>
        </p:blipFill>
        <p:spPr>
          <a:xfrm>
            <a:off x="10515600" y="137160"/>
            <a:ext cx="822960" cy="822960"/>
          </a:xfrm>
          <a:prstGeom prst="rect">
            <a:avLst/>
          </a:prstGeom>
        </p:spPr>
      </p:pic>
      <p:sp>
        <p:nvSpPr>
          <p:cNvPr id="6" name="TextBox 5"/>
          <p:cNvSpPr txBox="1"/>
          <p:nvPr/>
        </p:nvSpPr>
        <p:spPr>
          <a:xfrm>
            <a:off x="731520" y="137160"/>
            <a:ext cx="9601200" cy="822960"/>
          </a:xfrm>
          <a:prstGeom prst="rect">
            <a:avLst/>
          </a:prstGeom>
          <a:noFill/>
        </p:spPr>
        <p:txBody>
          <a:bodyPr wrap="square" anchor="ctr">
            <a:spAutoFit/>
          </a:bodyPr>
          <a:lstStyle/>
          <a:p>
            <a:pPr algn="l">
              <a:defRPr sz="2800" b="1">
                <a:solidFill>
                  <a:srgbClr val="FFFFFF"/>
                </a:solidFill>
              </a:defRPr>
            </a:pPr>
            <a:r>
              <a:t>Fiabilité de l'ingestion</a:t>
            </a:r>
          </a:p>
        </p:txBody>
      </p:sp>
      <p:sp>
        <p:nvSpPr>
          <p:cNvPr id="7" name="TextBox 6"/>
          <p:cNvSpPr txBox="1"/>
          <p:nvPr/>
        </p:nvSpPr>
        <p:spPr>
          <a:xfrm>
            <a:off x="731520" y="1463040"/>
            <a:ext cx="10698480" cy="4754880"/>
          </a:xfrm>
          <a:prstGeom prst="rect">
            <a:avLst/>
          </a:prstGeom>
          <a:noFill/>
        </p:spPr>
        <p:txBody>
          <a:bodyPr wrap="square">
            <a:spAutoFit/>
          </a:bodyPr>
          <a:lstStyle/>
          <a:p>
            <a:pPr>
              <a:spcBef>
                <a:spcPts val="1200"/>
              </a:spcBef>
              <a:spcAft>
                <a:spcPts val="400"/>
              </a:spcAft>
            </a:pPr>
            <a:r>
              <a:rPr sz="1800" b="1">
                <a:solidFill>
                  <a:srgbClr val="C8102E"/>
                </a:solidFill>
              </a:rPr>
              <a:t>Dead-Letter Queue (DLQ)  :</a:t>
            </a:r>
            <a:r>
              <a:rPr sz="1800">
                <a:solidFill>
                  <a:srgbClr val="2D2D2D"/>
                </a:solidFill>
              </a:rPr>
              <a:t> messages CDC invalides conservés, jamais perdus</a:t>
            </a:r>
          </a:p>
          <a:p>
            <a:pPr>
              <a:spcBef>
                <a:spcPts val="1200"/>
              </a:spcBef>
              <a:spcAft>
                <a:spcPts val="400"/>
              </a:spcAft>
            </a:pPr>
            <a:r>
              <a:rPr sz="1800" b="1">
                <a:solidFill>
                  <a:srgbClr val="C8102E"/>
                </a:solidFill>
              </a:rPr>
              <a:t>Commit Kafka manuel  :</a:t>
            </a:r>
            <a:r>
              <a:rPr sz="1800">
                <a:solidFill>
                  <a:srgbClr val="2D2D2D"/>
                </a:solidFill>
              </a:rPr>
              <a:t> l'offset n'avance qu'après insertion Snowflake réussie</a:t>
            </a:r>
          </a:p>
          <a:p>
            <a:pPr>
              <a:spcBef>
                <a:spcPts val="1200"/>
              </a:spcBef>
              <a:spcAft>
                <a:spcPts val="400"/>
              </a:spcAft>
            </a:pPr>
            <a:r>
              <a:rPr sz="1800" b="1">
                <a:solidFill>
                  <a:srgbClr val="C8102E"/>
                </a:solidFill>
              </a:rPr>
              <a:t>Fallback row-by-row  :</a:t>
            </a:r>
            <a:r>
              <a:rPr sz="1800">
                <a:solidFill>
                  <a:srgbClr val="2D2D2D"/>
                </a:solidFill>
              </a:rPr>
              <a:t> si un batch INSERT échoue, insertion ligne par ligne</a:t>
            </a:r>
          </a:p>
          <a:p>
            <a:pPr>
              <a:spcBef>
                <a:spcPts val="1200"/>
              </a:spcBef>
              <a:spcAft>
                <a:spcPts val="400"/>
              </a:spcAft>
            </a:pPr>
            <a:r>
              <a:rPr sz="1800" b="1">
                <a:solidFill>
                  <a:srgbClr val="C8102E"/>
                </a:solidFill>
              </a:rPr>
              <a:t>Monitoring volume  :</a:t>
            </a:r>
            <a:r>
              <a:rPr sz="1800">
                <a:solidFill>
                  <a:srgbClr val="2D2D2D"/>
                </a:solidFill>
              </a:rPr>
              <a:t> alerte après N batches consécutifs à 0 events</a:t>
            </a:r>
          </a:p>
          <a:p>
            <a:pPr>
              <a:spcBef>
                <a:spcPts val="1200"/>
              </a:spcBef>
              <a:spcAft>
                <a:spcPts val="400"/>
              </a:spcAft>
            </a:pPr>
            <a:r>
              <a:rPr sz="1800" b="1">
                <a:solidFill>
                  <a:srgbClr val="C8102E"/>
                </a:solidFill>
              </a:rPr>
              <a:t>FORCE=TRUE  :</a:t>
            </a:r>
            <a:r>
              <a:rPr sz="1800">
                <a:solidFill>
                  <a:srgbClr val="2D2D2D"/>
                </a:solidFill>
              </a:rPr>
              <a:t> contourne le cache metadata Snowflake (persistant 64 jours)</a:t>
            </a:r>
          </a:p>
          <a:p>
            <a:pPr>
              <a:spcBef>
                <a:spcPts val="1200"/>
              </a:spcBef>
              <a:spcAft>
                <a:spcPts val="400"/>
              </a:spcAft>
            </a:pPr>
            <a:r>
              <a:rPr sz="1800" b="1">
                <a:solidFill>
                  <a:srgbClr val="C8102E"/>
                </a:solidFill>
              </a:rPr>
              <a:t>Alertes Teams  :</a:t>
            </a:r>
            <a:r>
              <a:rPr sz="1800">
                <a:solidFill>
                  <a:srgbClr val="2D2D2D"/>
                </a:solidFill>
              </a:rPr>
              <a:t> notification après 3 échecs consécutifs + recovery automatique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C8102E"/>
        </a:solidFill>
        <a:effectLst/>
      </p:bgPr>
    </p:bg>
    <p:spTree>
      <p:nvGrpSpPr>
        <p:cNvPr id="1" name=""/>
        <p:cNvGrpSpPr/>
        <p:nvPr/>
      </p:nvGrpSpPr>
      <p:grpSpPr/>
      <p:pic>
        <p:nvPicPr>
          <p:cNvPr id="2" name="Picture 1" descr="logo-mediprix.png"/>
          <p:cNvPicPr>
            <a:picLocks noChangeAspect="1"/>
          </p:cNvPicPr>
          <p:nvPr/>
        </p:nvPicPr>
        <p:blipFill>
          <a:blip r:embed="rId2"/>
          <a:stretch>
            <a:fillRect/>
          </a:stretch>
        </p:blipFill>
        <p:spPr>
          <a:xfrm>
            <a:off x="10332720" y="274320"/>
            <a:ext cx="731520" cy="731520"/>
          </a:xfrm>
          <a:prstGeom prst="rect">
            <a:avLst/>
          </a:prstGeom>
        </p:spPr>
      </p:pic>
      <p:sp>
        <p:nvSpPr>
          <p:cNvPr id="3" name="TextBox 2"/>
          <p:cNvSpPr txBox="1"/>
          <p:nvPr/>
        </p:nvSpPr>
        <p:spPr>
          <a:xfrm>
            <a:off x="914400" y="1828800"/>
            <a:ext cx="10332720" cy="914400"/>
          </a:xfrm>
          <a:prstGeom prst="rect">
            <a:avLst/>
          </a:prstGeom>
          <a:noFill/>
        </p:spPr>
        <p:txBody>
          <a:bodyPr wrap="none">
            <a:spAutoFit/>
          </a:bodyPr>
          <a:lstStyle/>
          <a:p>
            <a:pPr algn="ctr">
              <a:defRPr sz="7200" b="1">
                <a:solidFill>
                  <a:srgbClr val="FFFFFF"/>
                </a:solidFill>
              </a:defRPr>
            </a:pPr>
            <a:r>
              <a:t>04</a:t>
            </a:r>
          </a:p>
        </p:txBody>
      </p:sp>
      <p:sp>
        <p:nvSpPr>
          <p:cNvPr id="4" name="Rectangle 3"/>
          <p:cNvSpPr/>
          <p:nvPr/>
        </p:nvSpPr>
        <p:spPr>
          <a:xfrm>
            <a:off x="5029200" y="2926080"/>
            <a:ext cx="210312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0"/>
            <a:ext cx="10332720" cy="1097280"/>
          </a:xfrm>
          <a:prstGeom prst="rect">
            <a:avLst/>
          </a:prstGeom>
          <a:noFill/>
        </p:spPr>
        <p:txBody>
          <a:bodyPr wrap="square">
            <a:spAutoFit/>
          </a:bodyPr>
          <a:lstStyle/>
          <a:p>
            <a:pPr algn="ctr">
              <a:defRPr sz="3600">
                <a:solidFill>
                  <a:srgbClr val="FFFFFF"/>
                </a:solidFill>
              </a:defRPr>
            </a:pPr>
            <a:r>
              <a:t>Transformations dbt</a:t>
            </a:r>
          </a:p>
        </p:txBody>
      </p:sp>
      <p:sp>
        <p:nvSpPr>
          <p:cNvPr id="6" name="TextBox 5"/>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13 / 21</a:t>
            </a:r>
          </a:p>
        </p:txBody>
      </p:sp>
      <p:pic>
        <p:nvPicPr>
          <p:cNvPr id="5" name="Picture 4" descr="logo-mediprix.png"/>
          <p:cNvPicPr>
            <a:picLocks noChangeAspect="1"/>
          </p:cNvPicPr>
          <p:nvPr/>
        </p:nvPicPr>
        <p:blipFill>
          <a:blip r:embed="rId2"/>
          <a:stretch>
            <a:fillRect/>
          </a:stretch>
        </p:blipFill>
        <p:spPr>
          <a:xfrm>
            <a:off x="10515600" y="137160"/>
            <a:ext cx="822960" cy="822960"/>
          </a:xfrm>
          <a:prstGeom prst="rect">
            <a:avLst/>
          </a:prstGeom>
        </p:spPr>
      </p:pic>
      <p:sp>
        <p:nvSpPr>
          <p:cNvPr id="6" name="TextBox 5"/>
          <p:cNvSpPr txBox="1"/>
          <p:nvPr/>
        </p:nvSpPr>
        <p:spPr>
          <a:xfrm>
            <a:off x="731520" y="137160"/>
            <a:ext cx="9601200" cy="822960"/>
          </a:xfrm>
          <a:prstGeom prst="rect">
            <a:avLst/>
          </a:prstGeom>
          <a:noFill/>
        </p:spPr>
        <p:txBody>
          <a:bodyPr wrap="square" anchor="ctr">
            <a:spAutoFit/>
          </a:bodyPr>
          <a:lstStyle/>
          <a:p>
            <a:pPr algn="l">
              <a:defRPr sz="2800" b="1">
                <a:solidFill>
                  <a:srgbClr val="FFFFFF"/>
                </a:solidFill>
              </a:defRPr>
            </a:pPr>
            <a:r>
              <a:t>Staging : nettoyage et sécurité</a:t>
            </a:r>
          </a:p>
        </p:txBody>
      </p:sp>
      <p:sp>
        <p:nvSpPr>
          <p:cNvPr id="7" name="TextBox 6"/>
          <p:cNvSpPr txBox="1"/>
          <p:nvPr/>
        </p:nvSpPr>
        <p:spPr>
          <a:xfrm>
            <a:off x="731520" y="1463040"/>
            <a:ext cx="10698480" cy="4754880"/>
          </a:xfrm>
          <a:prstGeom prst="rect">
            <a:avLst/>
          </a:prstGeom>
          <a:noFill/>
        </p:spPr>
        <p:txBody>
          <a:bodyPr wrap="square">
            <a:spAutoFit/>
          </a:bodyPr>
          <a:lstStyle/>
          <a:p>
            <a:pPr>
              <a:spcBef>
                <a:spcPts val="1200"/>
              </a:spcBef>
              <a:spcAft>
                <a:spcPts val="400"/>
              </a:spcAft>
            </a:pPr>
            <a:r>
              <a:rPr sz="1800" b="1">
                <a:solidFill>
                  <a:srgbClr val="C8102E"/>
                </a:solidFill>
              </a:rPr>
              <a:t>18 modèles staging  :</a:t>
            </a:r>
            <a:r>
              <a:rPr sz="1800">
                <a:solidFill>
                  <a:srgbClr val="2D2D2D"/>
                </a:solidFill>
              </a:rPr>
              <a:t> un stg_*.sql par table source</a:t>
            </a:r>
          </a:p>
          <a:p>
            <a:pPr>
              <a:spcBef>
                <a:spcPts val="1200"/>
              </a:spcBef>
              <a:spcAft>
                <a:spcPts val="400"/>
              </a:spcAft>
            </a:pPr>
            <a:r>
              <a:rPr sz="1800" b="1">
                <a:solidFill>
                  <a:srgbClr val="C8102E"/>
                </a:solidFill>
              </a:rPr>
              <a:t>Déduplication CDC  :</a:t>
            </a:r>
            <a:r>
              <a:rPr sz="1800">
                <a:solidFill>
                  <a:srgbClr val="2D2D2D"/>
                </a:solidFill>
              </a:rPr>
              <a:t> ROW_NUMBER() OVER (PARTITION BY PK ORDER BY cdc_timestamp DESC)</a:t>
            </a:r>
          </a:p>
          <a:p>
            <a:pPr>
              <a:spcBef>
                <a:spcPts val="1200"/>
              </a:spcBef>
              <a:spcAft>
                <a:spcPts val="400"/>
              </a:spcAft>
            </a:pPr>
            <a:r>
              <a:rPr sz="1800" b="1">
                <a:solidFill>
                  <a:srgbClr val="C8102E"/>
                </a:solidFill>
              </a:rPr>
              <a:t>Filtre des deletes  :</a:t>
            </a:r>
            <a:r>
              <a:rPr sz="1800">
                <a:solidFill>
                  <a:srgbClr val="2D2D2D"/>
                </a:solidFill>
              </a:rPr>
              <a:t> WHERE cdc_operation != 'D'</a:t>
            </a:r>
          </a:p>
          <a:p>
            <a:pPr>
              <a:spcBef>
                <a:spcPts val="1200"/>
              </a:spcBef>
              <a:spcAft>
                <a:spcPts val="400"/>
              </a:spcAft>
            </a:pPr>
            <a:r>
              <a:rPr sz="1800" b="1">
                <a:solidFill>
                  <a:srgbClr val="C8102E"/>
                </a:solidFill>
              </a:rPr>
              <a:t>Masquage PII  :</a:t>
            </a:r>
            <a:r>
              <a:rPr sz="1800">
                <a:solidFill>
                  <a:srgbClr val="2D2D2D"/>
                </a:solidFill>
              </a:rPr>
              <a:t> hash MD5 sur noms, adresses, téléphones, emails</a:t>
            </a:r>
          </a:p>
          <a:p>
            <a:pPr lvl="1">
              <a:spcBef>
                <a:spcPts val="400"/>
              </a:spcBef>
              <a:spcAft>
                <a:spcPts val="400"/>
              </a:spcAft>
            </a:pPr>
            <a:r>
              <a:rPr sz="1600">
                <a:solidFill>
                  <a:srgbClr val="666666"/>
                </a:solidFill>
              </a:rPr>
              <a:t>Macro centralisée {{ mask_pii('colonne') }}</a:t>
            </a:r>
          </a:p>
          <a:p>
            <a:pPr lvl="1">
              <a:spcBef>
                <a:spcPts val="400"/>
              </a:spcBef>
              <a:spcAft>
                <a:spcPts val="400"/>
              </a:spcAft>
            </a:pPr>
            <a:r>
              <a:rPr sz="1600">
                <a:solidFill>
                  <a:srgbClr val="666666"/>
                </a:solidFill>
              </a:rPr>
              <a:t>Jamais de données personnelles en clair dans STAGING ou MARTS</a:t>
            </a:r>
          </a:p>
          <a:p>
            <a:pPr>
              <a:spcBef>
                <a:spcPts val="1200"/>
              </a:spcBef>
              <a:spcAft>
                <a:spcPts val="400"/>
              </a:spcAft>
            </a:pPr>
            <a:r>
              <a:rPr sz="1800" b="1">
                <a:solidFill>
                  <a:srgbClr val="C8102E"/>
                </a:solidFill>
              </a:rPr>
              <a:t>Matérialisation incrémentale  :</a:t>
            </a:r>
            <a:r>
              <a:rPr sz="1800">
                <a:solidFill>
                  <a:srgbClr val="2D2D2D"/>
                </a:solidFill>
              </a:rPr>
              <a:t> merge sur clé primaire composite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14 / 21</a:t>
            </a:r>
          </a:p>
        </p:txBody>
      </p:sp>
      <p:pic>
        <p:nvPicPr>
          <p:cNvPr id="5" name="Picture 4" descr="logo-mediprix.png"/>
          <p:cNvPicPr>
            <a:picLocks noChangeAspect="1"/>
          </p:cNvPicPr>
          <p:nvPr/>
        </p:nvPicPr>
        <p:blipFill>
          <a:blip r:embed="rId2"/>
          <a:stretch>
            <a:fillRect/>
          </a:stretch>
        </p:blipFill>
        <p:spPr>
          <a:xfrm>
            <a:off x="10515600" y="137160"/>
            <a:ext cx="822960" cy="822960"/>
          </a:xfrm>
          <a:prstGeom prst="rect">
            <a:avLst/>
          </a:prstGeom>
        </p:spPr>
      </p:pic>
      <p:sp>
        <p:nvSpPr>
          <p:cNvPr id="6" name="TextBox 5"/>
          <p:cNvSpPr txBox="1"/>
          <p:nvPr/>
        </p:nvSpPr>
        <p:spPr>
          <a:xfrm>
            <a:off x="731520" y="137160"/>
            <a:ext cx="9601200" cy="822960"/>
          </a:xfrm>
          <a:prstGeom prst="rect">
            <a:avLst/>
          </a:prstGeom>
          <a:noFill/>
        </p:spPr>
        <p:txBody>
          <a:bodyPr wrap="square" anchor="ctr">
            <a:spAutoFit/>
          </a:bodyPr>
          <a:lstStyle/>
          <a:p>
            <a:pPr algn="l">
              <a:defRPr sz="2800" b="1">
                <a:solidFill>
                  <a:srgbClr val="FFFFFF"/>
                </a:solidFill>
              </a:defRPr>
            </a:pPr>
            <a:r>
              <a:t>Marts : star schema et KPIs</a:t>
            </a:r>
          </a:p>
        </p:txBody>
      </p:sp>
      <p:sp>
        <p:nvSpPr>
          <p:cNvPr id="7" name="TextBox 6"/>
          <p:cNvSpPr txBox="1"/>
          <p:nvPr/>
        </p:nvSpPr>
        <p:spPr>
          <a:xfrm>
            <a:off x="731520" y="1463040"/>
            <a:ext cx="10698480" cy="4754880"/>
          </a:xfrm>
          <a:prstGeom prst="rect">
            <a:avLst/>
          </a:prstGeom>
          <a:noFill/>
        </p:spPr>
        <p:txBody>
          <a:bodyPr wrap="square">
            <a:spAutoFit/>
          </a:bodyPr>
          <a:lstStyle/>
          <a:p>
            <a:pPr>
              <a:spcBef>
                <a:spcPts val="1200"/>
              </a:spcBef>
              <a:spcAft>
                <a:spcPts val="400"/>
              </a:spcAft>
            </a:pPr>
            <a:r>
              <a:rPr sz="1800" b="1">
                <a:solidFill>
                  <a:srgbClr val="C8102E"/>
                </a:solidFill>
              </a:rPr>
              <a:t>3 dimensions  :</a:t>
            </a:r>
            <a:r>
              <a:rPr sz="1800">
                <a:solidFill>
                  <a:srgbClr val="2D2D2D"/>
                </a:solidFill>
              </a:rPr>
              <a:t> dim_pharmacie, dim_produit, dim_fournisseur (surrogate keys)</a:t>
            </a:r>
          </a:p>
          <a:p>
            <a:pPr>
              <a:spcBef>
                <a:spcPts val="1200"/>
              </a:spcBef>
              <a:spcAft>
                <a:spcPts val="400"/>
              </a:spcAft>
            </a:pPr>
            <a:r>
              <a:rPr sz="1800" b="1">
                <a:solidFill>
                  <a:srgbClr val="C8102E"/>
                </a:solidFill>
              </a:rPr>
              <a:t>8 tables de faits  :</a:t>
            </a:r>
            <a:r>
              <a:rPr sz="1800">
                <a:solidFill>
                  <a:srgbClr val="2D2D2D"/>
                </a:solidFill>
              </a:rPr>
              <a:t/>
            </a:r>
          </a:p>
          <a:p>
            <a:pPr lvl="1">
              <a:spcBef>
                <a:spcPts val="400"/>
              </a:spcBef>
              <a:spcAft>
                <a:spcPts val="400"/>
              </a:spcAft>
            </a:pPr>
            <a:r>
              <a:rPr sz="1600">
                <a:solidFill>
                  <a:srgbClr val="666666"/>
                </a:solidFill>
              </a:rPr>
              <a:t>fact_ventes, fact_commandes, fact_prix_journalier, fact_stock_mouvement</a:t>
            </a:r>
          </a:p>
          <a:p>
            <a:pPr lvl="1">
              <a:spcBef>
                <a:spcPts val="400"/>
              </a:spcBef>
              <a:spcAft>
                <a:spcPts val="400"/>
              </a:spcAft>
            </a:pPr>
            <a:r>
              <a:rPr sz="1600">
                <a:solidFill>
                  <a:srgbClr val="666666"/>
                </a:solidFill>
              </a:rPr>
              <a:t>fact_stock_valorisation, fact_ruptures, fact_tresorerie, fact_operateur</a:t>
            </a:r>
          </a:p>
          <a:p>
            <a:pPr>
              <a:spcBef>
                <a:spcPts val="1200"/>
              </a:spcBef>
              <a:spcAft>
                <a:spcPts val="400"/>
              </a:spcAft>
            </a:pPr>
            <a:r>
              <a:rPr sz="1800" b="1">
                <a:solidFill>
                  <a:srgbClr val="C8102E"/>
                </a:solidFill>
              </a:rPr>
              <a:t>15 KPIs métier  :</a:t>
            </a:r>
            <a:r>
              <a:rPr sz="1800">
                <a:solidFill>
                  <a:srgbClr val="2D2D2D"/>
                </a:solidFill>
              </a:rPr>
              <a:t/>
            </a:r>
          </a:p>
          <a:p>
            <a:pPr lvl="1">
              <a:spcBef>
                <a:spcPts val="400"/>
              </a:spcBef>
              <a:spcAft>
                <a:spcPts val="400"/>
              </a:spcAft>
            </a:pPr>
            <a:r>
              <a:rPr sz="1600">
                <a:solidFill>
                  <a:srgbClr val="666666"/>
                </a:solidFill>
              </a:rPr>
              <a:t>Marge, écoulement, ABC (Pareto), stock, stock valorisation</a:t>
            </a:r>
          </a:p>
          <a:p>
            <a:pPr lvl="1">
              <a:spcBef>
                <a:spcPts val="400"/>
              </a:spcBef>
              <a:spcAft>
                <a:spcPts val="400"/>
              </a:spcAft>
            </a:pPr>
            <a:r>
              <a:rPr sz="1600">
                <a:solidFill>
                  <a:srgbClr val="666666"/>
                </a:solidFill>
              </a:rPr>
              <a:t>Ruptures, trésorerie, opérateur, qualité des données</a:t>
            </a:r>
          </a:p>
          <a:p>
            <a:pPr>
              <a:spcBef>
                <a:spcPts val="1200"/>
              </a:spcBef>
              <a:spcAft>
                <a:spcPts val="400"/>
              </a:spcAft>
            </a:pPr>
            <a:r>
              <a:rPr sz="1800" b="1">
                <a:solidFill>
                  <a:srgbClr val="C8102E"/>
                </a:solidFill>
              </a:rPr>
              <a:t>Snapshots SCD2  :</a:t>
            </a:r>
            <a:r>
              <a:rPr sz="1800">
                <a:solidFill>
                  <a:srgbClr val="2D2D2D"/>
                </a:solidFill>
              </a:rPr>
              <a:t> historisation pharmacie, produit, fournisseur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C8102E"/>
        </a:solidFill>
        <a:effectLst/>
      </p:bgPr>
    </p:bg>
    <p:spTree>
      <p:nvGrpSpPr>
        <p:cNvPr id="1" name=""/>
        <p:cNvGrpSpPr/>
        <p:nvPr/>
      </p:nvGrpSpPr>
      <p:grpSpPr/>
      <p:pic>
        <p:nvPicPr>
          <p:cNvPr id="2" name="Picture 1" descr="logo-mediprix.png"/>
          <p:cNvPicPr>
            <a:picLocks noChangeAspect="1"/>
          </p:cNvPicPr>
          <p:nvPr/>
        </p:nvPicPr>
        <p:blipFill>
          <a:blip r:embed="rId2"/>
          <a:stretch>
            <a:fillRect/>
          </a:stretch>
        </p:blipFill>
        <p:spPr>
          <a:xfrm>
            <a:off x="10332720" y="274320"/>
            <a:ext cx="731520" cy="731520"/>
          </a:xfrm>
          <a:prstGeom prst="rect">
            <a:avLst/>
          </a:prstGeom>
        </p:spPr>
      </p:pic>
      <p:sp>
        <p:nvSpPr>
          <p:cNvPr id="3" name="TextBox 2"/>
          <p:cNvSpPr txBox="1"/>
          <p:nvPr/>
        </p:nvSpPr>
        <p:spPr>
          <a:xfrm>
            <a:off x="914400" y="1828800"/>
            <a:ext cx="10332720" cy="914400"/>
          </a:xfrm>
          <a:prstGeom prst="rect">
            <a:avLst/>
          </a:prstGeom>
          <a:noFill/>
        </p:spPr>
        <p:txBody>
          <a:bodyPr wrap="none">
            <a:spAutoFit/>
          </a:bodyPr>
          <a:lstStyle/>
          <a:p>
            <a:pPr algn="ctr">
              <a:defRPr sz="7200" b="1">
                <a:solidFill>
                  <a:srgbClr val="FFFFFF"/>
                </a:solidFill>
              </a:defRPr>
            </a:pPr>
            <a:r>
              <a:t>05</a:t>
            </a:r>
          </a:p>
        </p:txBody>
      </p:sp>
      <p:sp>
        <p:nvSpPr>
          <p:cNvPr id="4" name="Rectangle 3"/>
          <p:cNvSpPr/>
          <p:nvPr/>
        </p:nvSpPr>
        <p:spPr>
          <a:xfrm>
            <a:off x="5029200" y="2926080"/>
            <a:ext cx="210312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0"/>
            <a:ext cx="10332720" cy="1097280"/>
          </a:xfrm>
          <a:prstGeom prst="rect">
            <a:avLst/>
          </a:prstGeom>
          <a:noFill/>
        </p:spPr>
        <p:txBody>
          <a:bodyPr wrap="square">
            <a:spAutoFit/>
          </a:bodyPr>
          <a:lstStyle/>
          <a:p>
            <a:pPr algn="ctr">
              <a:defRPr sz="3600">
                <a:solidFill>
                  <a:srgbClr val="FFFFFF"/>
                </a:solidFill>
              </a:defRPr>
            </a:pPr>
            <a:r>
              <a:t>Opérations et monitoring</a:t>
            </a:r>
          </a:p>
        </p:txBody>
      </p:sp>
      <p:sp>
        <p:nvSpPr>
          <p:cNvPr id="6" name="TextBox 5"/>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16 / 21</a:t>
            </a:r>
          </a:p>
        </p:txBody>
      </p:sp>
      <p:pic>
        <p:nvPicPr>
          <p:cNvPr id="5" name="Picture 4" descr="logo-mediprix.png"/>
          <p:cNvPicPr>
            <a:picLocks noChangeAspect="1"/>
          </p:cNvPicPr>
          <p:nvPr/>
        </p:nvPicPr>
        <p:blipFill>
          <a:blip r:embed="rId2"/>
          <a:stretch>
            <a:fillRect/>
          </a:stretch>
        </p:blipFill>
        <p:spPr>
          <a:xfrm>
            <a:off x="10515600" y="137160"/>
            <a:ext cx="822960" cy="822960"/>
          </a:xfrm>
          <a:prstGeom prst="rect">
            <a:avLst/>
          </a:prstGeom>
        </p:spPr>
      </p:pic>
      <p:sp>
        <p:nvSpPr>
          <p:cNvPr id="6" name="TextBox 5"/>
          <p:cNvSpPr txBox="1"/>
          <p:nvPr/>
        </p:nvSpPr>
        <p:spPr>
          <a:xfrm>
            <a:off x="731520" y="137160"/>
            <a:ext cx="9601200" cy="822960"/>
          </a:xfrm>
          <a:prstGeom prst="rect">
            <a:avLst/>
          </a:prstGeom>
          <a:noFill/>
        </p:spPr>
        <p:txBody>
          <a:bodyPr wrap="square" anchor="ctr">
            <a:spAutoFit/>
          </a:bodyPr>
          <a:lstStyle/>
          <a:p>
            <a:pPr algn="l">
              <a:defRPr sz="2800" b="1">
                <a:solidFill>
                  <a:srgbClr val="FFFFFF"/>
                </a:solidFill>
              </a:defRPr>
            </a:pPr>
            <a:r>
              <a:t>Orchestration et audit</a:t>
            </a:r>
          </a:p>
        </p:txBody>
      </p:sp>
      <p:sp>
        <p:nvSpPr>
          <p:cNvPr id="7" name="TextBox 6"/>
          <p:cNvSpPr txBox="1"/>
          <p:nvPr/>
        </p:nvSpPr>
        <p:spPr>
          <a:xfrm>
            <a:off x="731520" y="1463040"/>
            <a:ext cx="10698480" cy="4754880"/>
          </a:xfrm>
          <a:prstGeom prst="rect">
            <a:avLst/>
          </a:prstGeom>
          <a:noFill/>
        </p:spPr>
        <p:txBody>
          <a:bodyPr wrap="square">
            <a:spAutoFit/>
          </a:bodyPr>
          <a:lstStyle/>
          <a:p>
            <a:pPr>
              <a:spcBef>
                <a:spcPts val="1200"/>
              </a:spcBef>
              <a:spcAft>
                <a:spcPts val="400"/>
              </a:spcAft>
            </a:pPr>
            <a:r>
              <a:rPr sz="1800" b="1">
                <a:solidFill>
                  <a:srgbClr val="C8102E"/>
                </a:solidFill>
              </a:rPr>
              <a:t>batch_loop.sh  :</a:t>
            </a:r>
            <a:r>
              <a:rPr sz="1800">
                <a:solidFill>
                  <a:srgbClr val="2D2D2D"/>
                </a:solidFill>
              </a:rPr>
              <a:t> boucle principale (5 min dev / 30 min prod)</a:t>
            </a:r>
          </a:p>
          <a:p>
            <a:pPr lvl="1">
              <a:spcBef>
                <a:spcPts val="400"/>
              </a:spcBef>
              <a:spcAft>
                <a:spcPts val="400"/>
              </a:spcAft>
            </a:pPr>
            <a:r>
              <a:rPr sz="1600">
                <a:solidFill>
                  <a:srgbClr val="666666"/>
                </a:solidFill>
              </a:rPr>
              <a:t>7 phases : ref_reload, cdc_batch, dbt_staging, dbt_snapshot, dbt_marts, dbt_test, freshness</a:t>
            </a:r>
          </a:p>
          <a:p>
            <a:pPr lvl="1">
              <a:spcBef>
                <a:spcPts val="400"/>
              </a:spcBef>
              <a:spcAft>
                <a:spcPts val="400"/>
              </a:spcAft>
            </a:pPr>
            <a:r>
              <a:rPr sz="1600">
                <a:solidFill>
                  <a:srgbClr val="666666"/>
                </a:solidFill>
              </a:rPr>
              <a:t>Timeout configurable par phase (défaut 30 min)</a:t>
            </a:r>
          </a:p>
          <a:p>
            <a:pPr lvl="1">
              <a:spcBef>
                <a:spcPts val="400"/>
              </a:spcBef>
              <a:spcAft>
                <a:spcPts val="400"/>
              </a:spcAft>
            </a:pPr>
            <a:r>
              <a:rPr sz="1600">
                <a:solidFill>
                  <a:srgbClr val="666666"/>
                </a:solidFill>
              </a:rPr>
              <a:t>Arrêt graceful sur SIGTERM/SIGINT (compatible docker compose stop)</a:t>
            </a:r>
          </a:p>
          <a:p>
            <a:pPr>
              <a:spcBef>
                <a:spcPts val="1200"/>
              </a:spcBef>
              <a:spcAft>
                <a:spcPts val="400"/>
              </a:spcAft>
            </a:pPr>
            <a:r>
              <a:rPr sz="1800" b="1">
                <a:solidFill>
                  <a:srgbClr val="C8102E"/>
                </a:solidFill>
              </a:rPr>
              <a:t>RUN_ID unique  :</a:t>
            </a:r>
            <a:r>
              <a:rPr sz="1800">
                <a:solidFill>
                  <a:srgbClr val="2D2D2D"/>
                </a:solidFill>
              </a:rPr>
              <a:t> UUID généré par itération de batch</a:t>
            </a:r>
          </a:p>
          <a:p>
            <a:pPr lvl="1">
              <a:spcBef>
                <a:spcPts val="400"/>
              </a:spcBef>
              <a:spcAft>
                <a:spcPts val="400"/>
              </a:spcAft>
            </a:pPr>
            <a:r>
              <a:rPr sz="1600">
                <a:solidFill>
                  <a:srgbClr val="666666"/>
                </a:solidFill>
              </a:rPr>
              <a:t>Schéma AUDIT Snowflake : PIPELINE_RUNS, PIPELINE_STEP_RUNS, DBT_MODEL_RUNS</a:t>
            </a:r>
          </a:p>
          <a:p>
            <a:pPr lvl="1">
              <a:spcBef>
                <a:spcPts val="400"/>
              </a:spcBef>
              <a:spcAft>
                <a:spcPts val="400"/>
              </a:spcAft>
            </a:pPr>
            <a:r>
              <a:rPr sz="1600">
                <a:solidFill>
                  <a:srgbClr val="666666"/>
                </a:solidFill>
              </a:rPr>
              <a:t>Chaque donnée produite est reliée au batch qui l'a générée</a:t>
            </a:r>
          </a:p>
          <a:p>
            <a:pPr>
              <a:spcBef>
                <a:spcPts val="1200"/>
              </a:spcBef>
              <a:spcAft>
                <a:spcPts val="400"/>
              </a:spcAft>
            </a:pPr>
            <a:r>
              <a:rPr sz="1800" b="1">
                <a:solidFill>
                  <a:srgbClr val="C8102E"/>
                </a:solidFill>
              </a:rPr>
              <a:t>Source freshness  :</a:t>
            </a:r>
            <a:r>
              <a:rPr sz="1800">
                <a:solidFill>
                  <a:srgbClr val="2D2D2D"/>
                </a:solidFill>
              </a:rPr>
              <a:t> CDC 12h warn / 24h error, référence 36h warn / 48h error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C8102E"/>
        </a:solidFill>
        <a:effectLst/>
      </p:bgPr>
    </p:bg>
    <p:spTree>
      <p:nvGrpSpPr>
        <p:cNvPr id="1" name=""/>
        <p:cNvGrpSpPr/>
        <p:nvPr/>
      </p:nvGrpSpPr>
      <p:grpSpPr/>
      <p:pic>
        <p:nvPicPr>
          <p:cNvPr id="2" name="Picture 1" descr="logo-mediprix.png"/>
          <p:cNvPicPr>
            <a:picLocks noChangeAspect="1"/>
          </p:cNvPicPr>
          <p:nvPr/>
        </p:nvPicPr>
        <p:blipFill>
          <a:blip r:embed="rId2"/>
          <a:stretch>
            <a:fillRect/>
          </a:stretch>
        </p:blipFill>
        <p:spPr>
          <a:xfrm>
            <a:off x="10332720" y="274320"/>
            <a:ext cx="731520" cy="731520"/>
          </a:xfrm>
          <a:prstGeom prst="rect">
            <a:avLst/>
          </a:prstGeom>
        </p:spPr>
      </p:pic>
      <p:sp>
        <p:nvSpPr>
          <p:cNvPr id="3" name="TextBox 2"/>
          <p:cNvSpPr txBox="1"/>
          <p:nvPr/>
        </p:nvSpPr>
        <p:spPr>
          <a:xfrm>
            <a:off x="914400" y="1828800"/>
            <a:ext cx="10332720" cy="914400"/>
          </a:xfrm>
          <a:prstGeom prst="rect">
            <a:avLst/>
          </a:prstGeom>
          <a:noFill/>
        </p:spPr>
        <p:txBody>
          <a:bodyPr wrap="none">
            <a:spAutoFit/>
          </a:bodyPr>
          <a:lstStyle/>
          <a:p>
            <a:pPr algn="ctr">
              <a:defRPr sz="7200" b="1">
                <a:solidFill>
                  <a:srgbClr val="FFFFFF"/>
                </a:solidFill>
              </a:defRPr>
            </a:pPr>
            <a:r>
              <a:t>06</a:t>
            </a:r>
          </a:p>
        </p:txBody>
      </p:sp>
      <p:sp>
        <p:nvSpPr>
          <p:cNvPr id="4" name="Rectangle 3"/>
          <p:cNvSpPr/>
          <p:nvPr/>
        </p:nvSpPr>
        <p:spPr>
          <a:xfrm>
            <a:off x="5029200" y="2926080"/>
            <a:ext cx="210312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0"/>
            <a:ext cx="10332720" cy="1097280"/>
          </a:xfrm>
          <a:prstGeom prst="rect">
            <a:avLst/>
          </a:prstGeom>
          <a:noFill/>
        </p:spPr>
        <p:txBody>
          <a:bodyPr wrap="square">
            <a:spAutoFit/>
          </a:bodyPr>
          <a:lstStyle/>
          <a:p>
            <a:pPr algn="ctr">
              <a:defRPr sz="3600">
                <a:solidFill>
                  <a:srgbClr val="FFFFFF"/>
                </a:solidFill>
              </a:defRPr>
            </a:pPr>
            <a:r>
              <a:t>CI/CD</a:t>
            </a:r>
          </a:p>
        </p:txBody>
      </p:sp>
      <p:sp>
        <p:nvSpPr>
          <p:cNvPr id="6" name="TextBox 5"/>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18 / 21</a:t>
            </a:r>
          </a:p>
        </p:txBody>
      </p:sp>
      <p:pic>
        <p:nvPicPr>
          <p:cNvPr id="5" name="Picture 4" descr="logo-mediprix.png"/>
          <p:cNvPicPr>
            <a:picLocks noChangeAspect="1"/>
          </p:cNvPicPr>
          <p:nvPr/>
        </p:nvPicPr>
        <p:blipFill>
          <a:blip r:embed="rId2"/>
          <a:stretch>
            <a:fillRect/>
          </a:stretch>
        </p:blipFill>
        <p:spPr>
          <a:xfrm>
            <a:off x="10515600" y="137160"/>
            <a:ext cx="822960" cy="822960"/>
          </a:xfrm>
          <a:prstGeom prst="rect">
            <a:avLst/>
          </a:prstGeom>
        </p:spPr>
      </p:pic>
      <p:sp>
        <p:nvSpPr>
          <p:cNvPr id="6" name="TextBox 5"/>
          <p:cNvSpPr txBox="1"/>
          <p:nvPr/>
        </p:nvSpPr>
        <p:spPr>
          <a:xfrm>
            <a:off x="731520" y="137160"/>
            <a:ext cx="9601200" cy="822960"/>
          </a:xfrm>
          <a:prstGeom prst="rect">
            <a:avLst/>
          </a:prstGeom>
          <a:noFill/>
        </p:spPr>
        <p:txBody>
          <a:bodyPr wrap="square" anchor="ctr">
            <a:spAutoFit/>
          </a:bodyPr>
          <a:lstStyle/>
          <a:p>
            <a:pPr algn="l">
              <a:defRPr sz="2800" b="1">
                <a:solidFill>
                  <a:srgbClr val="FFFFFF"/>
                </a:solidFill>
              </a:defRPr>
            </a:pPr>
            <a:r>
              <a:t>Pipeline CI/CD GitHub Actions</a:t>
            </a:r>
          </a:p>
        </p:txBody>
      </p:sp>
      <p:sp>
        <p:nvSpPr>
          <p:cNvPr id="7" name="TextBox 6"/>
          <p:cNvSpPr txBox="1"/>
          <p:nvPr/>
        </p:nvSpPr>
        <p:spPr>
          <a:xfrm>
            <a:off x="731520" y="1463040"/>
            <a:ext cx="10698480" cy="4754880"/>
          </a:xfrm>
          <a:prstGeom prst="rect">
            <a:avLst/>
          </a:prstGeom>
          <a:noFill/>
        </p:spPr>
        <p:txBody>
          <a:bodyPr wrap="square">
            <a:spAutoFit/>
          </a:bodyPr>
          <a:lstStyle/>
          <a:p>
            <a:pPr>
              <a:spcBef>
                <a:spcPts val="1200"/>
              </a:spcBef>
              <a:spcAft>
                <a:spcPts val="400"/>
              </a:spcAft>
            </a:pPr>
            <a:r>
              <a:rPr sz="1800" b="1">
                <a:solidFill>
                  <a:srgbClr val="C8102E"/>
                </a:solidFill>
              </a:rPr>
              <a:t>4 jobs CI en parallèle à chaque push  :</a:t>
            </a:r>
            <a:r>
              <a:rPr sz="1800">
                <a:solidFill>
                  <a:srgbClr val="2D2D2D"/>
                </a:solidFill>
              </a:rPr>
              <a:t/>
            </a:r>
          </a:p>
          <a:p>
            <a:pPr lvl="1">
              <a:spcBef>
                <a:spcPts val="400"/>
              </a:spcBef>
              <a:spcAft>
                <a:spcPts val="400"/>
              </a:spcAft>
            </a:pPr>
            <a:r>
              <a:rPr sz="1600">
                <a:solidFill>
                  <a:srgbClr val="666666"/>
                </a:solidFill>
              </a:rPr>
              <a:t>Lint Python (flake8) : imports, syntaxe, formatage</a:t>
            </a:r>
          </a:p>
          <a:p>
            <a:pPr lvl="1">
              <a:spcBef>
                <a:spcPts val="400"/>
              </a:spcBef>
              <a:spcAft>
                <a:spcPts val="400"/>
              </a:spcAft>
            </a:pPr>
            <a:r>
              <a:rPr sz="1600">
                <a:solidFill>
                  <a:srgbClr val="666666"/>
                </a:solidFill>
              </a:rPr>
              <a:t>Validation dbt (dbt parse) : syntaxe SQL/Jinja2, ref() et source() valides</a:t>
            </a:r>
          </a:p>
          <a:p>
            <a:pPr lvl="1">
              <a:spcBef>
                <a:spcPts val="400"/>
              </a:spcBef>
              <a:spcAft>
                <a:spcPts val="400"/>
              </a:spcAft>
            </a:pPr>
            <a:r>
              <a:rPr sz="1600">
                <a:solidFill>
                  <a:srgbClr val="666666"/>
                </a:solidFill>
              </a:rPr>
              <a:t>Build Docker : vérification que l'image se construit</a:t>
            </a:r>
          </a:p>
          <a:p>
            <a:pPr lvl="1">
              <a:spcBef>
                <a:spcPts val="400"/>
              </a:spcBef>
              <a:spcAft>
                <a:spcPts val="400"/>
              </a:spcAft>
            </a:pPr>
            <a:r>
              <a:rPr sz="1600">
                <a:solidFill>
                  <a:srgbClr val="666666"/>
                </a:solidFill>
              </a:rPr>
              <a:t>ShellCheck : analyse statique des scripts bash</a:t>
            </a:r>
          </a:p>
          <a:p>
            <a:pPr>
              <a:spcBef>
                <a:spcPts val="1200"/>
              </a:spcBef>
              <a:spcAft>
                <a:spcPts val="400"/>
              </a:spcAft>
            </a:pPr>
            <a:r>
              <a:rPr sz="1800" b="1">
                <a:solidFill>
                  <a:srgbClr val="C8102E"/>
                </a:solidFill>
              </a:rPr>
              <a:t>1 job CD conditionnel  :</a:t>
            </a:r>
            <a:r>
              <a:rPr sz="1800">
                <a:solidFill>
                  <a:srgbClr val="2D2D2D"/>
                </a:solidFill>
              </a:rPr>
              <a:t/>
            </a:r>
          </a:p>
          <a:p>
            <a:pPr lvl="1">
              <a:spcBef>
                <a:spcPts val="400"/>
              </a:spcBef>
              <a:spcAft>
                <a:spcPts val="400"/>
              </a:spcAft>
            </a:pPr>
            <a:r>
              <a:rPr sz="1600">
                <a:solidFill>
                  <a:srgbClr val="666666"/>
                </a:solidFill>
              </a:rPr>
              <a:t>Push image Docker vers GitHub Container Registry (GHCR)</a:t>
            </a:r>
          </a:p>
          <a:p>
            <a:pPr lvl="1">
              <a:spcBef>
                <a:spcPts val="400"/>
              </a:spcBef>
              <a:spcAft>
                <a:spcPts val="400"/>
              </a:spcAft>
            </a:pPr>
            <a:r>
              <a:rPr sz="1600">
                <a:solidFill>
                  <a:srgbClr val="666666"/>
                </a:solidFill>
              </a:rPr>
              <a:t>Déclenchement : uniquement sur main, après passage des 4 jobs CI</a:t>
            </a:r>
          </a:p>
          <a:p>
            <a:pPr lvl="1">
              <a:spcBef>
                <a:spcPts val="400"/>
              </a:spcBef>
              <a:spcAft>
                <a:spcPts val="400"/>
              </a:spcAft>
            </a:pPr>
            <a:r>
              <a:rPr sz="1600">
                <a:solidFill>
                  <a:srgbClr val="666666"/>
                </a:solidFill>
              </a:rPr>
              <a:t>Tags : SHA du commit + latest</a:t>
            </a:r>
          </a:p>
          <a:p>
            <a:pPr lvl="1">
              <a:spcBef>
                <a:spcPts val="400"/>
              </a:spcBef>
              <a:spcAft>
                <a:spcPts val="400"/>
              </a:spcAft>
            </a:pPr>
            <a:r>
              <a:rPr sz="1600">
                <a:solidFill>
                  <a:srgbClr val="666666"/>
                </a:solidFill>
              </a:rPr>
              <a:t>Authentification : automatique via GITHUB_TOKEN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C8102E"/>
        </a:solidFill>
        <a:effectLst/>
      </p:bgPr>
    </p:bg>
    <p:spTree>
      <p:nvGrpSpPr>
        <p:cNvPr id="1" name=""/>
        <p:cNvGrpSpPr/>
        <p:nvPr/>
      </p:nvGrpSpPr>
      <p:grpSpPr/>
      <p:pic>
        <p:nvPicPr>
          <p:cNvPr id="2" name="Picture 1" descr="logo-mediprix.png"/>
          <p:cNvPicPr>
            <a:picLocks noChangeAspect="1"/>
          </p:cNvPicPr>
          <p:nvPr/>
        </p:nvPicPr>
        <p:blipFill>
          <a:blip r:embed="rId2"/>
          <a:stretch>
            <a:fillRect/>
          </a:stretch>
        </p:blipFill>
        <p:spPr>
          <a:xfrm>
            <a:off x="10332720" y="274320"/>
            <a:ext cx="731520" cy="731520"/>
          </a:xfrm>
          <a:prstGeom prst="rect">
            <a:avLst/>
          </a:prstGeom>
        </p:spPr>
      </p:pic>
      <p:sp>
        <p:nvSpPr>
          <p:cNvPr id="3" name="TextBox 2"/>
          <p:cNvSpPr txBox="1"/>
          <p:nvPr/>
        </p:nvSpPr>
        <p:spPr>
          <a:xfrm>
            <a:off x="914400" y="1828800"/>
            <a:ext cx="10332720" cy="914400"/>
          </a:xfrm>
          <a:prstGeom prst="rect">
            <a:avLst/>
          </a:prstGeom>
          <a:noFill/>
        </p:spPr>
        <p:txBody>
          <a:bodyPr wrap="none">
            <a:spAutoFit/>
          </a:bodyPr>
          <a:lstStyle/>
          <a:p>
            <a:pPr algn="ctr">
              <a:defRPr sz="7200" b="1">
                <a:solidFill>
                  <a:srgbClr val="FFFFFF"/>
                </a:solidFill>
              </a:defRPr>
            </a:pPr>
            <a:r>
              <a:t>07</a:t>
            </a:r>
          </a:p>
        </p:txBody>
      </p:sp>
      <p:sp>
        <p:nvSpPr>
          <p:cNvPr id="4" name="Rectangle 3"/>
          <p:cNvSpPr/>
          <p:nvPr/>
        </p:nvSpPr>
        <p:spPr>
          <a:xfrm>
            <a:off x="5029200" y="2926080"/>
            <a:ext cx="210312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0"/>
            <a:ext cx="10332720" cy="1097280"/>
          </a:xfrm>
          <a:prstGeom prst="rect">
            <a:avLst/>
          </a:prstGeom>
          <a:noFill/>
        </p:spPr>
        <p:txBody>
          <a:bodyPr wrap="square">
            <a:spAutoFit/>
          </a:bodyPr>
          <a:lstStyle/>
          <a:p>
            <a:pPr algn="ctr">
              <a:defRPr sz="3600">
                <a:solidFill>
                  <a:srgbClr val="FFFFFF"/>
                </a:solidFill>
              </a:defRPr>
            </a:pPr>
            <a:r>
              <a:t>Bilan et feuille de route</a:t>
            </a:r>
          </a:p>
        </p:txBody>
      </p:sp>
      <p:sp>
        <p:nvSpPr>
          <p:cNvPr id="6" name="TextBox 5"/>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8B0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20 / 21</a:t>
            </a:r>
          </a:p>
        </p:txBody>
      </p:sp>
      <p:pic>
        <p:nvPicPr>
          <p:cNvPr id="5" name="Picture 4" descr="logo-mediprix.png"/>
          <p:cNvPicPr>
            <a:picLocks noChangeAspect="1"/>
          </p:cNvPicPr>
          <p:nvPr/>
        </p:nvPicPr>
        <p:blipFill>
          <a:blip r:embed="rId2"/>
          <a:stretch>
            <a:fillRect/>
          </a:stretch>
        </p:blipFill>
        <p:spPr>
          <a:xfrm>
            <a:off x="10515600" y="137160"/>
            <a:ext cx="822960" cy="822960"/>
          </a:xfrm>
          <a:prstGeom prst="rect">
            <a:avLst/>
          </a:prstGeom>
        </p:spPr>
      </p:pic>
      <p:sp>
        <p:nvSpPr>
          <p:cNvPr id="6" name="TextBox 5"/>
          <p:cNvSpPr txBox="1"/>
          <p:nvPr/>
        </p:nvSpPr>
        <p:spPr>
          <a:xfrm>
            <a:off x="731520" y="137160"/>
            <a:ext cx="9601200" cy="822960"/>
          </a:xfrm>
          <a:prstGeom prst="rect">
            <a:avLst/>
          </a:prstGeom>
          <a:noFill/>
        </p:spPr>
        <p:txBody>
          <a:bodyPr wrap="square" anchor="ctr">
            <a:spAutoFit/>
          </a:bodyPr>
          <a:lstStyle/>
          <a:p>
            <a:pPr>
              <a:defRPr sz="2800" b="1">
                <a:solidFill>
                  <a:srgbClr val="FFFFFF"/>
                </a:solidFill>
              </a:defRPr>
            </a:pPr>
            <a:r>
              <a:t>Bilan et feuille de route</a:t>
            </a:r>
          </a:p>
        </p:txBody>
      </p:sp>
      <p:sp>
        <p:nvSpPr>
          <p:cNvPr id="7" name="TextBox 6"/>
          <p:cNvSpPr txBox="1"/>
          <p:nvPr/>
        </p:nvSpPr>
        <p:spPr>
          <a:xfrm>
            <a:off x="731520" y="1371600"/>
            <a:ext cx="5029200" cy="457200"/>
          </a:xfrm>
          <a:prstGeom prst="rect">
            <a:avLst/>
          </a:prstGeom>
          <a:noFill/>
        </p:spPr>
        <p:txBody>
          <a:bodyPr wrap="none">
            <a:spAutoFit/>
          </a:bodyPr>
          <a:lstStyle/>
          <a:p>
            <a:pPr>
              <a:defRPr sz="2400" b="1">
                <a:solidFill>
                  <a:srgbClr val="C8102E"/>
                </a:solidFill>
              </a:defRPr>
            </a:pPr>
            <a:r>
              <a:t>Implémenté et opérationnel</a:t>
            </a:r>
          </a:p>
        </p:txBody>
      </p:sp>
      <p:sp>
        <p:nvSpPr>
          <p:cNvPr id="8" name="TextBox 7"/>
          <p:cNvSpPr txBox="1"/>
          <p:nvPr/>
        </p:nvSpPr>
        <p:spPr>
          <a:xfrm>
            <a:off x="731520" y="1920240"/>
            <a:ext cx="5029200" cy="4206240"/>
          </a:xfrm>
          <a:prstGeom prst="rect">
            <a:avLst/>
          </a:prstGeom>
          <a:noFill/>
        </p:spPr>
        <p:txBody>
          <a:bodyPr wrap="square">
            <a:spAutoFit/>
          </a:bodyPr>
          <a:lstStyle/>
          <a:p>
            <a:pPr>
              <a:spcBef>
                <a:spcPts val="800"/>
              </a:spcBef>
              <a:spcAft>
                <a:spcPts val="200"/>
              </a:spcAft>
            </a:pPr>
            <a:r>
              <a:rPr sz="1500" b="1">
                <a:solidFill>
                  <a:srgbClr val="C8102E"/>
                </a:solidFill>
              </a:rPr>
              <a:t>Pipeline ELT complet  :</a:t>
            </a:r>
            <a:r>
              <a:rPr sz="1500">
                <a:solidFill>
                  <a:srgbClr val="2D2D2D"/>
                </a:solidFill>
              </a:rPr>
              <a:t> 18 tables ingérées</a:t>
            </a:r>
          </a:p>
          <a:p>
            <a:pPr>
              <a:spcBef>
                <a:spcPts val="800"/>
              </a:spcBef>
              <a:spcAft>
                <a:spcPts val="200"/>
              </a:spcAft>
            </a:pPr>
            <a:r>
              <a:rPr sz="1500" b="1">
                <a:solidFill>
                  <a:srgbClr val="C8102E"/>
                </a:solidFill>
              </a:rPr>
              <a:t>Star schema  :</a:t>
            </a:r>
            <a:r>
              <a:rPr sz="1500">
                <a:solidFill>
                  <a:srgbClr val="2D2D2D"/>
                </a:solidFill>
              </a:rPr>
              <a:t> 3 dim, 8 faits, 15 KPIs</a:t>
            </a:r>
          </a:p>
          <a:p>
            <a:pPr>
              <a:spcBef>
                <a:spcPts val="800"/>
              </a:spcBef>
              <a:spcAft>
                <a:spcPts val="200"/>
              </a:spcAft>
            </a:pPr>
            <a:r>
              <a:rPr sz="1500" b="1">
                <a:solidFill>
                  <a:srgbClr val="C8102E"/>
                </a:solidFill>
              </a:rPr>
              <a:t>CDC temps réel  :</a:t>
            </a:r>
            <a:r>
              <a:rPr sz="1500">
                <a:solidFill>
                  <a:srgbClr val="2D2D2D"/>
                </a:solidFill>
              </a:rPr>
              <a:t> Debezium/Kafka (4 tables)</a:t>
            </a:r>
          </a:p>
          <a:p>
            <a:pPr>
              <a:spcBef>
                <a:spcPts val="800"/>
              </a:spcBef>
              <a:spcAft>
                <a:spcPts val="200"/>
              </a:spcAft>
            </a:pPr>
            <a:r>
              <a:rPr sz="1500" b="1">
                <a:solidFill>
                  <a:srgbClr val="C8102E"/>
                </a:solidFill>
              </a:rPr>
              <a:t>Bulk quotidien  :</a:t>
            </a:r>
            <a:r>
              <a:rPr sz="1500">
                <a:solidFill>
                  <a:srgbClr val="2D2D2D"/>
                </a:solidFill>
              </a:rPr>
              <a:t> 14 tables référentiel</a:t>
            </a:r>
          </a:p>
          <a:p>
            <a:pPr>
              <a:spcBef>
                <a:spcPts val="800"/>
              </a:spcBef>
              <a:spcAft>
                <a:spcPts val="200"/>
              </a:spcAft>
            </a:pPr>
            <a:r>
              <a:rPr sz="1500" b="1">
                <a:solidFill>
                  <a:srgbClr val="C8102E"/>
                </a:solidFill>
              </a:rPr>
              <a:t>Masquage PII  :</a:t>
            </a:r>
            <a:r>
              <a:rPr sz="1500">
                <a:solidFill>
                  <a:srgbClr val="2D2D2D"/>
                </a:solidFill>
              </a:rPr>
              <a:t> automatique via macro dbt</a:t>
            </a:r>
          </a:p>
          <a:p>
            <a:pPr>
              <a:spcBef>
                <a:spcPts val="800"/>
              </a:spcBef>
              <a:spcAft>
                <a:spcPts val="200"/>
              </a:spcAft>
            </a:pPr>
            <a:r>
              <a:rPr sz="1500" b="1">
                <a:solidFill>
                  <a:srgbClr val="C8102E"/>
                </a:solidFill>
              </a:rPr>
              <a:t>Lineage  :</a:t>
            </a:r>
            <a:r>
              <a:rPr sz="1500">
                <a:solidFill>
                  <a:srgbClr val="2D2D2D"/>
                </a:solidFill>
              </a:rPr>
              <a:t> RUN_ID + schéma AUDIT Snowflake</a:t>
            </a:r>
          </a:p>
          <a:p>
            <a:pPr>
              <a:spcBef>
                <a:spcPts val="800"/>
              </a:spcBef>
              <a:spcAft>
                <a:spcPts val="200"/>
              </a:spcAft>
            </a:pPr>
            <a:r>
              <a:rPr sz="1500" b="1">
                <a:solidFill>
                  <a:srgbClr val="C8102E"/>
                </a:solidFill>
              </a:rPr>
              <a:t>CI/CD  :</a:t>
            </a:r>
            <a:r>
              <a:rPr sz="1500">
                <a:solidFill>
                  <a:srgbClr val="2D2D2D"/>
                </a:solidFill>
              </a:rPr>
              <a:t> GitHub Actions → GHCR automatisé</a:t>
            </a:r>
          </a:p>
          <a:p>
            <a:pPr>
              <a:spcBef>
                <a:spcPts val="800"/>
              </a:spcBef>
              <a:spcAft>
                <a:spcPts val="200"/>
              </a:spcAft>
            </a:pPr>
            <a:r>
              <a:rPr sz="1500" b="1">
                <a:solidFill>
                  <a:srgbClr val="C8102E"/>
                </a:solidFill>
              </a:rPr>
              <a:t>Monitoring  :</a:t>
            </a:r>
            <a:r>
              <a:rPr sz="1500">
                <a:solidFill>
                  <a:srgbClr val="2D2D2D"/>
                </a:solidFill>
              </a:rPr>
              <a:t> Teams + source freshness dbt</a:t>
            </a:r>
          </a:p>
        </p:txBody>
      </p:sp>
      <p:sp>
        <p:nvSpPr>
          <p:cNvPr id="9" name="TextBox 8"/>
          <p:cNvSpPr txBox="1"/>
          <p:nvPr/>
        </p:nvSpPr>
        <p:spPr>
          <a:xfrm>
            <a:off x="6400800" y="1371600"/>
            <a:ext cx="5029200" cy="457200"/>
          </a:xfrm>
          <a:prstGeom prst="rect">
            <a:avLst/>
          </a:prstGeom>
          <a:noFill/>
        </p:spPr>
        <p:txBody>
          <a:bodyPr wrap="none">
            <a:spAutoFit/>
          </a:bodyPr>
          <a:lstStyle/>
          <a:p>
            <a:pPr>
              <a:defRPr sz="2400" b="1">
                <a:solidFill>
                  <a:srgbClr val="C8102E"/>
                </a:solidFill>
              </a:defRPr>
            </a:pPr>
            <a:r>
              <a:t>Feuille de route (à implémenter)</a:t>
            </a:r>
          </a:p>
        </p:txBody>
      </p:sp>
      <p:sp>
        <p:nvSpPr>
          <p:cNvPr id="10" name="TextBox 9"/>
          <p:cNvSpPr txBox="1"/>
          <p:nvPr/>
        </p:nvSpPr>
        <p:spPr>
          <a:xfrm>
            <a:off x="6400800" y="1920240"/>
            <a:ext cx="5029200" cy="4206240"/>
          </a:xfrm>
          <a:prstGeom prst="rect">
            <a:avLst/>
          </a:prstGeom>
          <a:noFill/>
        </p:spPr>
        <p:txBody>
          <a:bodyPr wrap="square">
            <a:spAutoFit/>
          </a:bodyPr>
          <a:lstStyle/>
          <a:p>
            <a:pPr>
              <a:spcBef>
                <a:spcPts val="800"/>
              </a:spcBef>
              <a:spcAft>
                <a:spcPts val="200"/>
              </a:spcAft>
            </a:pPr>
            <a:r>
              <a:rPr sz="1500" b="1">
                <a:solidFill>
                  <a:srgbClr val="C8102E"/>
                </a:solidFill>
              </a:rPr>
              <a:t>Exposition BI  :</a:t>
            </a:r>
            <a:r>
              <a:rPr sz="1500">
                <a:solidFill>
                  <a:srgbClr val="2D2D2D"/>
                </a:solidFill>
              </a:rPr>
              <a:t> Power BI / Metabase sur les marts</a:t>
            </a:r>
          </a:p>
          <a:p>
            <a:pPr>
              <a:spcBef>
                <a:spcPts val="800"/>
              </a:spcBef>
              <a:spcAft>
                <a:spcPts val="200"/>
              </a:spcAft>
            </a:pPr>
            <a:r>
              <a:rPr sz="1500" b="1">
                <a:solidFill>
                  <a:srgbClr val="C8102E"/>
                </a:solidFill>
              </a:rPr>
              <a:t>Monitoring Kafka  :</a:t>
            </a:r>
            <a:r>
              <a:rPr sz="1500">
                <a:solidFill>
                  <a:srgbClr val="2D2D2D"/>
                </a:solidFill>
              </a:rPr>
              <a:t> détection retard offset lag</a:t>
            </a:r>
          </a:p>
          <a:p>
            <a:pPr>
              <a:spcBef>
                <a:spcPts val="800"/>
              </a:spcBef>
              <a:spcAft>
                <a:spcPts val="200"/>
              </a:spcAft>
            </a:pPr>
            <a:r>
              <a:rPr sz="1500" b="1">
                <a:solidFill>
                  <a:srgbClr val="C8102E"/>
                </a:solidFill>
              </a:rPr>
              <a:t>Tests isolés  :</a:t>
            </a:r>
            <a:r>
              <a:rPr sz="1500">
                <a:solidFill>
                  <a:srgbClr val="2D2D2D"/>
                </a:solidFill>
              </a:rPr>
              <a:t> dbt seeds/fixtures en CI</a:t>
            </a:r>
          </a:p>
          <a:p>
            <a:pPr>
              <a:spcBef>
                <a:spcPts val="800"/>
              </a:spcBef>
              <a:spcAft>
                <a:spcPts val="200"/>
              </a:spcAft>
            </a:pPr>
            <a:r>
              <a:rPr sz="1500" b="1">
                <a:solidFill>
                  <a:srgbClr val="C8102E"/>
                </a:solidFill>
              </a:rPr>
              <a:t>Documentation  :</a:t>
            </a:r>
            <a:r>
              <a:rPr sz="1500">
                <a:solidFill>
                  <a:srgbClr val="2D2D2D"/>
                </a:solidFill>
              </a:rPr>
              <a:t> KPIs avec formules et exemples SQL</a:t>
            </a:r>
          </a:p>
          <a:p>
            <a:pPr>
              <a:spcBef>
                <a:spcPts val="800"/>
              </a:spcBef>
              <a:spcAft>
                <a:spcPts val="200"/>
              </a:spcAft>
            </a:pPr>
            <a:r>
              <a:rPr sz="1500" b="1">
                <a:solidFill>
                  <a:srgbClr val="C8102E"/>
                </a:solidFill>
              </a:rPr>
              <a:t>Credentials  :</a:t>
            </a:r>
            <a:r>
              <a:rPr sz="1500">
                <a:solidFill>
                  <a:srgbClr val="2D2D2D"/>
                </a:solidFill>
              </a:rPr>
              <a:t> rotation automatique des 4 comptes</a:t>
            </a:r>
          </a:p>
          <a:p>
            <a:pPr>
              <a:spcBef>
                <a:spcPts val="800"/>
              </a:spcBef>
              <a:spcAft>
                <a:spcPts val="200"/>
              </a:spcAft>
            </a:pPr>
            <a:r>
              <a:rPr sz="1500" b="1">
                <a:solidFill>
                  <a:srgbClr val="C8102E"/>
                </a:solidFill>
              </a:rPr>
              <a:t>Orchestration  :</a:t>
            </a:r>
            <a:r>
              <a:rPr sz="1500">
                <a:solidFill>
                  <a:srgbClr val="2D2D2D"/>
                </a:solidFill>
              </a:rPr>
              <a:t> Airflow ou Dagster (vs bash)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C8102E"/>
        </a:solidFill>
        <a:effectLst/>
      </p:bgPr>
    </p:bg>
    <p:spTree>
      <p:nvGrpSpPr>
        <p:cNvPr id="1" name=""/>
        <p:cNvGrpSpPr/>
        <p:nvPr/>
      </p:nvGrpSpPr>
      <p:grpSpPr/>
      <p:pic>
        <p:nvPicPr>
          <p:cNvPr id="2" name="Picture 1" descr="logo-mediprix.png"/>
          <p:cNvPicPr>
            <a:picLocks noChangeAspect="1"/>
          </p:cNvPicPr>
          <p:nvPr/>
        </p:nvPicPr>
        <p:blipFill>
          <a:blip r:embed="rId2"/>
          <a:stretch>
            <a:fillRect/>
          </a:stretch>
        </p:blipFill>
        <p:spPr>
          <a:xfrm>
            <a:off x="5547207" y="731520"/>
            <a:ext cx="1097280" cy="1097280"/>
          </a:xfrm>
          <a:prstGeom prst="rect">
            <a:avLst/>
          </a:prstGeom>
        </p:spPr>
      </p:pic>
      <p:sp>
        <p:nvSpPr>
          <p:cNvPr id="3" name="TextBox 2"/>
          <p:cNvSpPr txBox="1"/>
          <p:nvPr/>
        </p:nvSpPr>
        <p:spPr>
          <a:xfrm>
            <a:off x="914400" y="2286000"/>
            <a:ext cx="10332720" cy="1097280"/>
          </a:xfrm>
          <a:prstGeom prst="rect">
            <a:avLst/>
          </a:prstGeom>
          <a:noFill/>
        </p:spPr>
        <p:txBody>
          <a:bodyPr wrap="none">
            <a:spAutoFit/>
          </a:bodyPr>
          <a:lstStyle/>
          <a:p>
            <a:pPr algn="ctr">
              <a:defRPr sz="5200" b="1">
                <a:solidFill>
                  <a:srgbClr val="FFFFFF"/>
                </a:solidFill>
              </a:defRPr>
            </a:pPr>
            <a:r>
              <a:t>Merci</a:t>
            </a:r>
          </a:p>
        </p:txBody>
      </p:sp>
      <p:sp>
        <p:nvSpPr>
          <p:cNvPr id="4" name="TextBox 3"/>
          <p:cNvSpPr txBox="1"/>
          <p:nvPr/>
        </p:nvSpPr>
        <p:spPr>
          <a:xfrm>
            <a:off x="914400" y="3657600"/>
            <a:ext cx="10332720" cy="548640"/>
          </a:xfrm>
          <a:prstGeom prst="rect">
            <a:avLst/>
          </a:prstGeom>
          <a:noFill/>
        </p:spPr>
        <p:txBody>
          <a:bodyPr wrap="none">
            <a:spAutoFit/>
          </a:bodyPr>
          <a:lstStyle/>
          <a:p>
            <a:pPr algn="ctr">
              <a:defRPr sz="2800">
                <a:solidFill>
                  <a:srgbClr val="F2D5DA"/>
                </a:solidFill>
              </a:defRPr>
            </a:pPr>
            <a:r>
              <a:t>Questions ?</a:t>
            </a:r>
          </a:p>
        </p:txBody>
      </p:sp>
      <p:sp>
        <p:nvSpPr>
          <p:cNvPr id="5" name="TextBox 4"/>
          <p:cNvSpPr txBox="1"/>
          <p:nvPr/>
        </p:nvSpPr>
        <p:spPr>
          <a:xfrm>
            <a:off x="10972800" y="6510528"/>
            <a:ext cx="1005840" cy="274320"/>
          </a:xfrm>
          <a:prstGeom prst="rect">
            <a:avLst/>
          </a:prstGeom>
          <a:noFill/>
        </p:spPr>
        <p:txBody>
          <a:bodyPr wrap="none">
            <a:spAutoFit/>
          </a:bodyPr>
          <a:lstStyle/>
          <a:p>
            <a:pPr algn="r">
              <a:defRPr sz="1000">
                <a:solidFill>
                  <a:srgbClr val="FFFFFF"/>
                </a:solidFill>
              </a:defRPr>
            </a:pPr>
            <a:r>
              <a:t>21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